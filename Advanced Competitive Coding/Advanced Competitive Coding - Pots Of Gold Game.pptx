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744" r:id="rId2"/>
    <p:sldId id="260" r:id="rId3"/>
    <p:sldId id="745" r:id="rId4"/>
    <p:sldId id="746" r:id="rId5"/>
    <p:sldId id="358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D5BF45-084B-4FB3-BFDD-82EB6388B9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C9F013-4835-4887-9D87-26625FE7A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0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51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97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8E974-7BD5-E8C5-BCF2-890AE26E7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4F8D29-434F-9345-3DB5-6C40E97D0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69BB0-CE59-5542-B70F-96F8E32C9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71CEC-15D2-2463-3458-7469C9B59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C9C57-D84F-4F8F-CC2D-A1F24044E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78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A189-C4C3-E616-114D-FC2834A1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65DA6-D78E-6D00-4FEE-364ABFEFC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48821-D045-7911-00A5-FB06C7BC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4F91A-2ADD-748A-BB7F-D23D941E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EAD15-6701-00D4-5FA9-D359E06F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63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94C8-ADA3-6364-AE77-D6FB41BD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5B1A5-1319-0018-A574-C7653E564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9332C-9474-3B3F-BE85-41C51F73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829F3-5691-BDA3-667E-0B4E7F18D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2FCF4-D6F7-5939-EB8F-930012D0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706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D1482-1822-EC93-C9B0-4BB830B8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47EF1-FAB6-D41B-E5F1-633195A5F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B9F5E-4723-70F0-7732-E6E9F91FF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D335A6-5761-3BC9-FD8E-F0E51B6EB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B69F7-767B-4B9B-68FD-1517DF913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0B7B1-B152-E028-0220-3E07BDF43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61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8B37-C831-AC00-163A-E556D821B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91927-166F-0CE4-205C-A1A950EB1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E4EB3-518D-B200-943B-B7379A181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FC21E-16E4-E3BC-769C-3AE73E66A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1A2642-FD1B-612D-3163-B78FC71A3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4DB07A-3743-ACFA-3BC6-6CD2F18E4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7AD38-DC49-E3C6-C7DB-BA3771CE7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F438BB-20C9-3C84-96D3-DB77ED0D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89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72D8-6CBB-BE00-58A3-9F698390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930FCB-920E-1A45-5517-3C4B4524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FF21E-4A21-ABAA-6A60-3694E4FA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89B11-40BB-240C-CD2F-79322FC62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67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5B3D6-C0CC-ADA7-F73D-6C88E613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402D8-032B-044C-1BC1-ADDCFAAD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45B21-E6B9-0A54-6FEB-2813A50E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4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11B4C-ABEF-C6C6-9254-F477D5B67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0E1FD-3AF5-8043-F421-62FC8672D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DD9E9-B1DB-62FD-514C-237AD6DDF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17DBD-DB1B-7756-9675-1B3D49911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62F95-D6C9-7A17-EA65-18C3ED36A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B012D-21DC-BB31-63C9-24596416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10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7604C-2374-30EA-3463-F5C203088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D3D43-012A-8B8A-00F1-A610F911A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EC650-76CC-B2D5-133C-228EA8C38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C424B-3EA2-68F0-CB36-2CD1A699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6CEE2-3B7E-DC53-A570-C2B9C640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D4CA2-0DCE-2EDB-B675-46CCEE7A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69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1A89-4750-D2E7-5DF2-A5F1EF39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3275F-2EEE-B99D-6FE4-49BB56551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567E5-2E8D-D9C1-63AE-D50CFB2ED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068A7-4848-27AE-E68D-E96C4BC1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E8A3-2487-8C45-54E2-579A1738F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652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2E5ED3-22AF-5823-1716-755A0005B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28016-ABD0-3CEF-1968-365C61847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9167D-647C-E093-1CF5-73EBD23DA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9583F-D29B-A251-2DAC-9AE41BCC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B6E48-F310-B0A1-EF03-396762AF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60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0DFAAE-12BD-EF06-CD05-2BD1EBF43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24A01-2EB5-712B-6B95-9F68FDE68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2FED6-652D-E754-B6EF-7A7C6D407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8647E-078D-4C98-B5CD-356A58BD8FF8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32BBF-1A1F-5C1D-C91C-7200CC290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C3B0F-DBA3-A994-244C-DFE09C22D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FD6DC-61A4-45BB-A05D-B6C421469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165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Pots of </a:t>
            </a:r>
            <a:r>
              <a:rPr lang="en-US" sz="5400" b="1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g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old game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Pots of gold game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C088-43F9-4039-891A-2FC9B551E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30002"/>
            <a:ext cx="10515600" cy="457159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3000" b="0" i="0" dirty="0">
                <a:effectLst/>
                <a:latin typeface="Nunito Sans" pitchFamily="2" charset="0"/>
              </a:rPr>
              <a:t>There are two players, A and B, in Pots of gold game, and pots of gold arranged in a line, each containing some gold coins. The players can see how many coins are there in each gold pot, and each player gets alternating turns in which the player can pick a pot from either end of the line. The winner is the player who has a higher number of coins at the end. The objective is to “maximize” the number of coins collected by A, assuming B also plays “optimally”, and A starts the game.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62E180-8003-16A2-70BB-B0759AA7E1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3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527837" y="52053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Pots of gold game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609600" y="428999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62E180-8003-16A2-70BB-B0759AA7E1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672AA4-C726-6E70-D1E6-0FD5ABBB6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258603"/>
              </p:ext>
            </p:extLst>
          </p:nvPr>
        </p:nvGraphicFramePr>
        <p:xfrm>
          <a:off x="736208" y="1899138"/>
          <a:ext cx="8789391" cy="4037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797">
                  <a:extLst>
                    <a:ext uri="{9D8B030D-6E8A-4147-A177-3AD203B41FA5}">
                      <a16:colId xmlns:a16="http://schemas.microsoft.com/office/drawing/2014/main" val="3234455044"/>
                    </a:ext>
                  </a:extLst>
                </a:gridCol>
                <a:gridCol w="2929797">
                  <a:extLst>
                    <a:ext uri="{9D8B030D-6E8A-4147-A177-3AD203B41FA5}">
                      <a16:colId xmlns:a16="http://schemas.microsoft.com/office/drawing/2014/main" val="2940774161"/>
                    </a:ext>
                  </a:extLst>
                </a:gridCol>
                <a:gridCol w="2929797">
                  <a:extLst>
                    <a:ext uri="{9D8B030D-6E8A-4147-A177-3AD203B41FA5}">
                      <a16:colId xmlns:a16="http://schemas.microsoft.com/office/drawing/2014/main" val="3906984529"/>
                    </a:ext>
                  </a:extLst>
                </a:gridCol>
              </a:tblGrid>
              <a:tr h="6729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dirty="0">
                          <a:solidFill>
                            <a:srgbClr val="242323"/>
                          </a:solidFill>
                          <a:effectLst/>
                          <a:latin typeface="monaco"/>
                        </a:rPr>
                        <a:t>      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i="0" dirty="0">
                          <a:solidFill>
                            <a:srgbClr val="242323"/>
                          </a:solidFill>
                          <a:effectLst/>
                          <a:latin typeface="monaco"/>
                        </a:rPr>
                        <a:t>Player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i="0" dirty="0" err="1">
                          <a:solidFill>
                            <a:srgbClr val="242323"/>
                          </a:solidFill>
                          <a:effectLst/>
                          <a:latin typeface="monaco"/>
                        </a:rPr>
                        <a:t>Opponent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344593"/>
                  </a:ext>
                </a:extLst>
              </a:tr>
              <a:tr h="672904"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dirty="0">
                          <a:solidFill>
                            <a:srgbClr val="242323"/>
                          </a:solidFill>
                          <a:effectLst/>
                          <a:latin typeface="monaco"/>
                        </a:rPr>
                        <a:t>4, 6, 2, 3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828379"/>
                  </a:ext>
                </a:extLst>
              </a:tr>
              <a:tr h="672904"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dirty="0">
                          <a:solidFill>
                            <a:srgbClr val="242323"/>
                          </a:solidFill>
                          <a:effectLst/>
                          <a:latin typeface="monaco"/>
                        </a:rPr>
                        <a:t>4, 6, 2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2015724"/>
                  </a:ext>
                </a:extLst>
              </a:tr>
              <a:tr h="672904"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dirty="0">
                          <a:solidFill>
                            <a:srgbClr val="242323"/>
                          </a:solidFill>
                          <a:effectLst/>
                          <a:latin typeface="monaco"/>
                        </a:rPr>
                        <a:t>6, 2 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9394783"/>
                  </a:ext>
                </a:extLst>
              </a:tr>
              <a:tr h="6729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068024"/>
                  </a:ext>
                </a:extLst>
              </a:tr>
              <a:tr h="672904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i="0" dirty="0">
                          <a:solidFill>
                            <a:srgbClr val="242323"/>
                          </a:solidFill>
                          <a:effectLst/>
                          <a:latin typeface="monaco"/>
                        </a:rPr>
                        <a:t>9 coins    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i="0" dirty="0">
                          <a:solidFill>
                            <a:srgbClr val="242323"/>
                          </a:solidFill>
                          <a:effectLst/>
                          <a:latin typeface="monaco"/>
                        </a:rPr>
                        <a:t>6 coins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7887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83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(int[] coin,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j){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j)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 coin[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 == j)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(coin[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coin[j]);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start = coin[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Integer.min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(coin,i+2,j),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(coin,i+1,j-1));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end = coin[j]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Integer.min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(coin,i+1,j-1),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(coin,i,j-2));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(start, end);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int[] coin=new int[n];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coin[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(coin,0,n-1));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441</Words>
  <Application>Microsoft Office PowerPoint</Application>
  <PresentationFormat>Widescreen</PresentationFormat>
  <Paragraphs>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monaco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2024-01-13T10:17:01Z</dcterms:created>
  <dcterms:modified xsi:type="dcterms:W3CDTF">2024-01-16T09:38:14Z</dcterms:modified>
</cp:coreProperties>
</file>