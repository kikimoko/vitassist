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oboto Black"/>
      <p:bold r:id="rId45"/>
      <p:boldItalic r:id="rId46"/>
    </p:embeddedFont>
    <p:embeddedFont>
      <p:font typeface="Roboto"/>
      <p:regular r:id="rId47"/>
      <p:bold r:id="rId48"/>
      <p:italic r:id="rId49"/>
      <p:boldItalic r:id="rId50"/>
    </p:embeddedFont>
    <p:embeddedFont>
      <p:font typeface="Roboto Medium"/>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5" roundtripDataSignature="AMtx7mge2Vz0kLw3aE3Asfrdl9VBBNdn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lack-boldItalic.fntdata"/><Relationship Id="rId45" Type="http://schemas.openxmlformats.org/officeDocument/2006/relationships/font" Target="fonts/Roboto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edium-regular.fntdata"/><Relationship Id="rId50" Type="http://schemas.openxmlformats.org/officeDocument/2006/relationships/font" Target="fonts/Roboto-boldItalic.fntdata"/><Relationship Id="rId53" Type="http://schemas.openxmlformats.org/officeDocument/2006/relationships/font" Target="fonts/RobotoMedium-italic.fntdata"/><Relationship Id="rId52" Type="http://schemas.openxmlformats.org/officeDocument/2006/relationships/font" Target="fonts/RobotoMedium-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RobotoMedium-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2cb3dbaf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3f2cb3dbaf7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3: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5: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6: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7: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8: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9: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During the whole process, we have to use 5 shifts. Because we have 5 bits in the multiplier.</a:t>
            </a:r>
            <a:endParaRPr>
              <a:latin typeface="Roboto"/>
              <a:ea typeface="Roboto"/>
              <a:cs typeface="Roboto"/>
              <a:sym typeface="Roboto"/>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Accumulator is a special purpose register which enables us to perform the operations on the content of this particular register. Also we store the result in Accumulator itself. Accumulator is initialized with all zeros.</a:t>
            </a:r>
            <a:endParaRPr>
              <a:latin typeface="Roboto"/>
              <a:ea typeface="Roboto"/>
              <a:cs typeface="Roboto"/>
              <a:sym typeface="Roboto"/>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Entire operations will be depend on the LSB of Q and Q-1 bits.</a:t>
            </a:r>
            <a:endParaRPr>
              <a:latin typeface="Roboto"/>
              <a:ea typeface="Roboto"/>
              <a:cs typeface="Roboto"/>
              <a:sym typeface="Roboto"/>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Remember, In Booth’s Algorithm, we have to use the negative Inverse of a value. When ever we are performing the Shifts. These Shifts are to be performed keeping the sign-bit extension of 2’s compliment numbers in mind.</a:t>
            </a:r>
            <a:endParaRPr>
              <a:latin typeface="Roboto"/>
              <a:ea typeface="Roboto"/>
              <a:cs typeface="Roboto"/>
              <a:sym typeface="Roboto"/>
            </a:endParaRPr>
          </a:p>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6: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7: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10: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21: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2: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4: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24: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25: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35:notes"/>
          <p:cNvSpPr txBox="1"/>
          <p:nvPr>
            <p:ph idx="1" type="body"/>
          </p:nvPr>
        </p:nvSpPr>
        <p:spPr>
          <a:xfrm>
            <a:off x="514350" y="7823360"/>
            <a:ext cx="4114530" cy="64006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f40505ea05_1_3:notes"/>
          <p:cNvSpPr/>
          <p:nvPr>
            <p:ph idx="2" type="sldImg"/>
          </p:nvPr>
        </p:nvSpPr>
        <p:spPr>
          <a:xfrm>
            <a:off x="-2305050" y="2032000"/>
            <a:ext cx="9752100"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g2f40505ea05_1_3: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f2cb3dbaf7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3f2cb3dbaf7_0_3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f2ce537a21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f2ce537a21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f2ce537a21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3f2ce537a21_1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2ce537a2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3f2ce537a21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2ce537a21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f2ce537a21_1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f2ce537a21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f2ce537a21_1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f2ce537a21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3f2ce537a21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72ced43323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272ced43323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1" name="Google Shape;471;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7" name="Google Shape;477;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 name="Google Shape;483;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0" name="Google Shape;490;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9" name="Google Shape;509;p4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 name="Google Shape;515;p4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2cb3dba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g3f2cb3dbaf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f2cb3dbaf7_0_7: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g3f2cb3dbaf7_0_7: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72ced43323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272ced43323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g3f2cb3dbaf7_0_1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g3f2cb3dbaf7_0_1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 name="Google Shape;17;g3f2cb3dbaf7_0_1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g3f2cb3dbaf7_0_1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g3f2cb3dbaf7_0_1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44"/>
          <p:cNvSpPr txBox="1"/>
          <p:nvPr/>
        </p:nvSpPr>
        <p:spPr>
          <a:xfrm>
            <a:off x="6096000" y="0"/>
            <a:ext cx="2376458"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1" i="1" lang="en-US" sz="800" u="none" cap="none" strike="noStrike">
                <a:solidFill>
                  <a:srgbClr val="FF0000"/>
                </a:solidFill>
                <a:latin typeface="Roboto"/>
                <a:ea typeface="Roboto"/>
                <a:cs typeface="Roboto"/>
                <a:sym typeface="Roboto"/>
              </a:rPr>
              <a:t>Java introduction, Features, Structure, Data type</a:t>
            </a:r>
            <a:endParaRPr b="0" i="0" sz="2400" u="none" cap="none" strike="noStrike">
              <a:solidFill>
                <a:srgbClr val="000000"/>
              </a:solidFill>
              <a:latin typeface="Consolas"/>
              <a:ea typeface="Consolas"/>
              <a:cs typeface="Consolas"/>
              <a:sym typeface="Consola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 2">
    <p:spTree>
      <p:nvGrpSpPr>
        <p:cNvPr id="27" name="Shape 27"/>
        <p:cNvGrpSpPr/>
        <p:nvPr/>
      </p:nvGrpSpPr>
      <p:grpSpPr>
        <a:xfrm>
          <a:off x="0" y="0"/>
          <a:ext cx="0" cy="0"/>
          <a:chOff x="0" y="0"/>
          <a:chExt cx="0" cy="0"/>
        </a:xfrm>
      </p:grpSpPr>
      <p:sp>
        <p:nvSpPr>
          <p:cNvPr id="28" name="Google Shape;28;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9" name="Google Shape;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 name="Shape 33"/>
        <p:cNvGrpSpPr/>
        <p:nvPr/>
      </p:nvGrpSpPr>
      <p:grpSpPr>
        <a:xfrm>
          <a:off x="0" y="0"/>
          <a:ext cx="0" cy="0"/>
          <a:chOff x="0" y="0"/>
          <a:chExt cx="0" cy="0"/>
        </a:xfrm>
      </p:grpSpPr>
      <p:sp>
        <p:nvSpPr>
          <p:cNvPr id="34" name="Google Shape;34;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3" name="Google Shape;4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4" name="Google Shape;4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7" name="Google Shape;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50" name="Google Shape;5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1" name="Google Shape;5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56" name="Google Shape;5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9" name="Google Shape;5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0" name="Google Shape;6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7.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s://qrfy.io/ZqY8WJFJZ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hyperlink" Target="https://codemithra.com/vit-helpdesk/" TargetMode="External"/><Relationship Id="rId5"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jp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66" name="Google Shape;66;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67" name="Google Shape;67;p1"/>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68" name="Google Shape;68;p1"/>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69" name="Google Shape;69;p1"/>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g3f2cb3dbaf7_0_67" title="Untitled.png"/>
          <p:cNvPicPr preferRelativeResize="0"/>
          <p:nvPr/>
        </p:nvPicPr>
        <p:blipFill rotWithShape="1">
          <a:blip r:embed="rId3">
            <a:alphaModFix/>
          </a:blip>
          <a:srcRect b="0" l="0" r="0" t="0"/>
          <a:stretch/>
        </p:blipFill>
        <p:spPr>
          <a:xfrm>
            <a:off x="3283375" y="1446725"/>
            <a:ext cx="2033201" cy="2033201"/>
          </a:xfrm>
          <a:prstGeom prst="rect">
            <a:avLst/>
          </a:prstGeom>
          <a:noFill/>
          <a:ln>
            <a:noFill/>
          </a:ln>
        </p:spPr>
      </p:pic>
      <p:sp>
        <p:nvSpPr>
          <p:cNvPr id="75" name="Google Shape;75;g3f2cb3dbaf7_0_67"/>
          <p:cNvSpPr txBox="1"/>
          <p:nvPr/>
        </p:nvSpPr>
        <p:spPr>
          <a:xfrm>
            <a:off x="805975" y="661075"/>
            <a:ext cx="6263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                </a:t>
            </a:r>
            <a:r>
              <a:rPr b="1" i="0" lang="en-US" sz="2000" u="none" cap="none" strike="noStrike">
                <a:solidFill>
                  <a:srgbClr val="807FEC"/>
                </a:solidFill>
                <a:latin typeface="Roboto"/>
                <a:ea typeface="Roboto"/>
                <a:cs typeface="Roboto"/>
                <a:sym typeface="Roboto"/>
              </a:rPr>
              <a:t>Test on Binary Palindrome</a:t>
            </a:r>
            <a:endParaRPr b="1" i="0" sz="2000" u="none" cap="none" strike="noStrike">
              <a:solidFill>
                <a:srgbClr val="807FEC"/>
              </a:solidFill>
              <a:latin typeface="Roboto"/>
              <a:ea typeface="Roboto"/>
              <a:cs typeface="Roboto"/>
              <a:sym typeface="Roboto"/>
            </a:endParaRPr>
          </a:p>
        </p:txBody>
      </p:sp>
      <p:sp>
        <p:nvSpPr>
          <p:cNvPr id="76" name="Google Shape;76;g3f2cb3dbaf7_0_67"/>
          <p:cNvSpPr txBox="1"/>
          <p:nvPr/>
        </p:nvSpPr>
        <p:spPr>
          <a:xfrm>
            <a:off x="2688100" y="4364900"/>
            <a:ext cx="626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77" name="Google Shape;77;g3f2cb3dbaf7_0_67"/>
          <p:cNvSpPr txBox="1"/>
          <p:nvPr/>
        </p:nvSpPr>
        <p:spPr>
          <a:xfrm>
            <a:off x="2688100" y="3803875"/>
            <a:ext cx="35286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500" u="none" cap="none" strike="noStrike">
                <a:solidFill>
                  <a:srgbClr val="1F1F1F"/>
                </a:solidFill>
                <a:highlight>
                  <a:srgbClr val="FFFFFF"/>
                </a:highlight>
                <a:latin typeface="Roboto"/>
                <a:ea typeface="Roboto"/>
                <a:cs typeface="Roboto"/>
                <a:sym typeface="Roboto"/>
              </a:rPr>
              <a:t>   URL :    </a:t>
            </a:r>
            <a:r>
              <a:rPr b="1" i="0" lang="en-US" sz="1500" u="sng" cap="none" strike="noStrike">
                <a:solidFill>
                  <a:schemeClr val="hlink"/>
                </a:solidFill>
                <a:highlight>
                  <a:srgbClr val="FFFFFF"/>
                </a:highlight>
                <a:latin typeface="Roboto"/>
                <a:ea typeface="Roboto"/>
                <a:cs typeface="Roboto"/>
                <a:sym typeface="Roboto"/>
                <a:hlinkClick r:id="rId4"/>
              </a:rPr>
              <a:t>https://qrfy.io/ZqY8WJFJZu</a:t>
            </a:r>
            <a:r>
              <a:rPr b="1" i="0" lang="en-US" sz="1500" u="none" cap="none" strike="noStrike">
                <a:solidFill>
                  <a:schemeClr val="accent5"/>
                </a:solidFill>
                <a:latin typeface="Roboto"/>
                <a:ea typeface="Roboto"/>
                <a:cs typeface="Roboto"/>
                <a:sym typeface="Roboto"/>
              </a:rPr>
              <a:t>   </a:t>
            </a:r>
            <a:endParaRPr b="1" i="0" sz="1500" u="none" cap="none" strike="noStrike">
              <a:solidFill>
                <a:schemeClr val="accent5"/>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3" name="Google Shape;83;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4" name="Google Shape;84;p15"/>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85" name="Google Shape;85;p15"/>
          <p:cNvSpPr txBox="1"/>
          <p:nvPr/>
        </p:nvSpPr>
        <p:spPr>
          <a:xfrm>
            <a:off x="223025" y="2196275"/>
            <a:ext cx="46212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Roboto"/>
                <a:ea typeface="Roboto"/>
                <a:cs typeface="Roboto"/>
                <a:sym typeface="Roboto"/>
              </a:rPr>
              <a:t>BOOTH'S ALGORITHM</a:t>
            </a:r>
            <a:endParaRPr i="0" sz="32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91" name="Google Shape;91;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92" name="Google Shape;92;p18"/>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93" name="Google Shape;93;p18"/>
          <p:cNvPicPr preferRelativeResize="0"/>
          <p:nvPr/>
        </p:nvPicPr>
        <p:blipFill rotWithShape="1">
          <a:blip r:embed="rId4">
            <a:alphaModFix/>
          </a:blip>
          <a:srcRect b="0" l="0" r="0" t="0"/>
          <a:stretch/>
        </p:blipFill>
        <p:spPr>
          <a:xfrm>
            <a:off x="-3" y="-1"/>
            <a:ext cx="9144003" cy="5143501"/>
          </a:xfrm>
          <a:prstGeom prst="rect">
            <a:avLst/>
          </a:prstGeom>
          <a:noFill/>
          <a:ln>
            <a:noFill/>
          </a:ln>
        </p:spPr>
      </p:pic>
      <p:sp>
        <p:nvSpPr>
          <p:cNvPr id="94" name="Google Shape;94;p18"/>
          <p:cNvSpPr txBox="1"/>
          <p:nvPr/>
        </p:nvSpPr>
        <p:spPr>
          <a:xfrm>
            <a:off x="311697" y="1044651"/>
            <a:ext cx="3093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2000" u="none" cap="none" strike="noStrike">
                <a:solidFill>
                  <a:srgbClr val="8181EF"/>
                </a:solidFill>
                <a:latin typeface="Roboto Black"/>
                <a:ea typeface="Roboto Black"/>
                <a:cs typeface="Roboto Black"/>
                <a:sym typeface="Roboto Black"/>
              </a:rPr>
              <a:t>TOPICS</a:t>
            </a:r>
            <a:endParaRPr b="0" i="0" sz="2000" u="none" cap="none" strike="noStrike">
              <a:solidFill>
                <a:srgbClr val="8181EF"/>
              </a:solidFill>
              <a:latin typeface="Roboto Black"/>
              <a:ea typeface="Roboto Black"/>
              <a:cs typeface="Roboto Black"/>
              <a:sym typeface="Roboto Black"/>
            </a:endParaRPr>
          </a:p>
        </p:txBody>
      </p:sp>
      <p:sp>
        <p:nvSpPr>
          <p:cNvPr id="95" name="Google Shape;95;p18"/>
          <p:cNvSpPr txBox="1"/>
          <p:nvPr/>
        </p:nvSpPr>
        <p:spPr>
          <a:xfrm>
            <a:off x="832262" y="1652883"/>
            <a:ext cx="3204000" cy="2247300"/>
          </a:xfrm>
          <a:prstGeom prst="rect">
            <a:avLst/>
          </a:prstGeom>
          <a:noFill/>
          <a:ln>
            <a:noFill/>
          </a:ln>
        </p:spPr>
        <p:txBody>
          <a:bodyPr anchorCtr="0" anchor="t" bIns="45700" lIns="91425" spcFirstLastPara="1" rIns="91425" wrap="square" tIns="45700">
            <a:spAutoFit/>
          </a:bodyPr>
          <a:lstStyle/>
          <a:p>
            <a:pPr indent="-260350" lvl="0" marL="285750" marR="0" rtl="0" algn="l">
              <a:lnSpc>
                <a:spcPct val="150000"/>
              </a:lnSpc>
              <a:spcBef>
                <a:spcPts val="0"/>
              </a:spcBef>
              <a:spcAft>
                <a:spcPts val="0"/>
              </a:spcAft>
              <a:buClr>
                <a:srgbClr val="000000"/>
              </a:buClr>
              <a:buSzPts val="1400"/>
              <a:buFont typeface="Roboto"/>
              <a:buChar char="⮚"/>
            </a:pPr>
            <a:r>
              <a:rPr i="0" lang="en-US" u="none" cap="none" strike="noStrike">
                <a:solidFill>
                  <a:srgbClr val="000000"/>
                </a:solidFill>
                <a:latin typeface="Roboto"/>
                <a:ea typeface="Roboto"/>
                <a:cs typeface="Roboto"/>
                <a:sym typeface="Roboto"/>
              </a:rPr>
              <a:t>Introduction</a:t>
            </a:r>
            <a:endParaRPr i="0" u="none" cap="none" strike="noStrike">
              <a:solidFill>
                <a:srgbClr val="000000"/>
              </a:solidFill>
              <a:latin typeface="Roboto"/>
              <a:ea typeface="Roboto"/>
              <a:cs typeface="Roboto"/>
              <a:sym typeface="Roboto"/>
            </a:endParaRPr>
          </a:p>
          <a:p>
            <a:pPr indent="-260350" lvl="0" marL="285750" marR="0" rtl="0" algn="l">
              <a:lnSpc>
                <a:spcPct val="150000"/>
              </a:lnSpc>
              <a:spcBef>
                <a:spcPts val="0"/>
              </a:spcBef>
              <a:spcAft>
                <a:spcPts val="0"/>
              </a:spcAft>
              <a:buClr>
                <a:srgbClr val="000000"/>
              </a:buClr>
              <a:buSzPts val="1400"/>
              <a:buFont typeface="Roboto"/>
              <a:buChar char="⮚"/>
            </a:pPr>
            <a:r>
              <a:rPr i="0" lang="en-US" u="none" cap="none" strike="noStrike">
                <a:solidFill>
                  <a:srgbClr val="000000"/>
                </a:solidFill>
                <a:latin typeface="Roboto"/>
                <a:ea typeface="Roboto"/>
                <a:cs typeface="Roboto"/>
                <a:sym typeface="Roboto"/>
              </a:rPr>
              <a:t>Flow chart</a:t>
            </a:r>
            <a:endParaRPr i="0" u="none" cap="none" strike="noStrike">
              <a:solidFill>
                <a:srgbClr val="000000"/>
              </a:solidFill>
              <a:latin typeface="Roboto"/>
              <a:ea typeface="Roboto"/>
              <a:cs typeface="Roboto"/>
              <a:sym typeface="Roboto"/>
            </a:endParaRPr>
          </a:p>
          <a:p>
            <a:pPr indent="-260350" lvl="0" marL="285750" marR="0" rtl="0" algn="l">
              <a:lnSpc>
                <a:spcPct val="150000"/>
              </a:lnSpc>
              <a:spcBef>
                <a:spcPts val="0"/>
              </a:spcBef>
              <a:spcAft>
                <a:spcPts val="0"/>
              </a:spcAft>
              <a:buClr>
                <a:srgbClr val="000000"/>
              </a:buClr>
              <a:buSzPts val="1400"/>
              <a:buFont typeface="Roboto"/>
              <a:buChar char="⮚"/>
            </a:pPr>
            <a:r>
              <a:rPr i="0" lang="en-US" u="none" cap="none" strike="noStrike">
                <a:solidFill>
                  <a:srgbClr val="000000"/>
                </a:solidFill>
                <a:latin typeface="Roboto"/>
                <a:ea typeface="Roboto"/>
                <a:cs typeface="Roboto"/>
                <a:sym typeface="Roboto"/>
              </a:rPr>
              <a:t>Algorithm</a:t>
            </a:r>
            <a:endParaRPr i="0" u="none" cap="none" strike="noStrike">
              <a:solidFill>
                <a:srgbClr val="000000"/>
              </a:solidFill>
              <a:latin typeface="Roboto"/>
              <a:ea typeface="Roboto"/>
              <a:cs typeface="Roboto"/>
              <a:sym typeface="Roboto"/>
            </a:endParaRPr>
          </a:p>
          <a:p>
            <a:pPr indent="-260350" lvl="0" marL="285750" marR="0" rtl="0" algn="l">
              <a:lnSpc>
                <a:spcPct val="150000"/>
              </a:lnSpc>
              <a:spcBef>
                <a:spcPts val="0"/>
              </a:spcBef>
              <a:spcAft>
                <a:spcPts val="0"/>
              </a:spcAft>
              <a:buClr>
                <a:srgbClr val="000000"/>
              </a:buClr>
              <a:buSzPts val="1400"/>
              <a:buFont typeface="Roboto"/>
              <a:buChar char="⮚"/>
            </a:pPr>
            <a:r>
              <a:rPr i="0" lang="en-US" u="none" cap="none" strike="noStrike">
                <a:solidFill>
                  <a:srgbClr val="000000"/>
                </a:solidFill>
                <a:latin typeface="Roboto"/>
                <a:ea typeface="Roboto"/>
                <a:cs typeface="Roboto"/>
                <a:sym typeface="Roboto"/>
              </a:rPr>
              <a:t>Program</a:t>
            </a:r>
            <a:endParaRPr i="0" u="none" cap="none" strike="noStrike">
              <a:solidFill>
                <a:srgbClr val="000000"/>
              </a:solidFill>
              <a:latin typeface="Roboto"/>
              <a:ea typeface="Roboto"/>
              <a:cs typeface="Roboto"/>
              <a:sym typeface="Roboto"/>
            </a:endParaRPr>
          </a:p>
          <a:p>
            <a:pPr indent="-260350" lvl="0" marL="285750" marR="0" rtl="0" algn="l">
              <a:lnSpc>
                <a:spcPct val="150000"/>
              </a:lnSpc>
              <a:spcBef>
                <a:spcPts val="0"/>
              </a:spcBef>
              <a:spcAft>
                <a:spcPts val="0"/>
              </a:spcAft>
              <a:buClr>
                <a:srgbClr val="000000"/>
              </a:buClr>
              <a:buSzPts val="1400"/>
              <a:buFont typeface="Roboto"/>
              <a:buChar char="⮚"/>
            </a:pPr>
            <a:r>
              <a:rPr i="0" lang="en-US" u="none" cap="none" strike="noStrike">
                <a:solidFill>
                  <a:srgbClr val="000000"/>
                </a:solidFill>
                <a:latin typeface="Roboto"/>
                <a:ea typeface="Roboto"/>
                <a:cs typeface="Roboto"/>
                <a:sym typeface="Roboto"/>
              </a:rPr>
              <a:t>Interview questions</a:t>
            </a:r>
            <a:endParaRPr i="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i="0" u="none" cap="none" strike="noStrike">
              <a:solidFill>
                <a:srgbClr val="000000"/>
              </a:solidFill>
              <a:latin typeface="Roboto"/>
              <a:ea typeface="Roboto"/>
              <a:cs typeface="Roboto"/>
              <a:sym typeface="Roboto"/>
            </a:endParaRPr>
          </a:p>
          <a:p>
            <a:pPr indent="-196850" lvl="0" marL="285750" marR="0" rtl="0" algn="l">
              <a:lnSpc>
                <a:spcPct val="150000"/>
              </a:lnSpc>
              <a:spcBef>
                <a:spcPts val="0"/>
              </a:spcBef>
              <a:spcAft>
                <a:spcPts val="0"/>
              </a:spcAft>
              <a:buClr>
                <a:srgbClr val="000000"/>
              </a:buClr>
              <a:buSzPts val="1400"/>
              <a:buFont typeface="Noto Sans Symbols"/>
              <a:buNone/>
            </a:pPr>
            <a:r>
              <a:t/>
            </a:r>
            <a:endParaRPr i="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p:nvPr/>
        </p:nvSpPr>
        <p:spPr>
          <a:xfrm>
            <a:off x="510515" y="125640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1" name="Google Shape;101;p3"/>
          <p:cNvSpPr/>
          <p:nvPr/>
        </p:nvSpPr>
        <p:spPr>
          <a:xfrm>
            <a:off x="377324" y="1242887"/>
            <a:ext cx="8341500" cy="5847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The booth’s algorithm is a multiplication algorithm that allows us to multiply the two signed binary integers in 2's complement, respectively.</a:t>
            </a:r>
            <a:endParaRPr b="0" i="0" u="none" cap="none" strike="noStrike">
              <a:solidFill>
                <a:srgbClr val="000000"/>
              </a:solidFill>
              <a:latin typeface="Roboto"/>
              <a:ea typeface="Roboto"/>
              <a:cs typeface="Roboto"/>
              <a:sym typeface="Roboto"/>
            </a:endParaRPr>
          </a:p>
        </p:txBody>
      </p:sp>
      <p:sp>
        <p:nvSpPr>
          <p:cNvPr id="102" name="Google Shape;102;p3"/>
          <p:cNvSpPr/>
          <p:nvPr/>
        </p:nvSpPr>
        <p:spPr>
          <a:xfrm>
            <a:off x="401238" y="1857124"/>
            <a:ext cx="8341500" cy="3669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It is also used to speed up the performance of the multiplication process. It is very efficient too.</a:t>
            </a:r>
            <a:endParaRPr b="0" i="0" u="none" cap="none" strike="noStrike">
              <a:solidFill>
                <a:srgbClr val="000000"/>
              </a:solidFill>
              <a:latin typeface="Roboto"/>
              <a:ea typeface="Roboto"/>
              <a:cs typeface="Roboto"/>
              <a:sym typeface="Roboto"/>
            </a:endParaRPr>
          </a:p>
        </p:txBody>
      </p:sp>
      <p:sp>
        <p:nvSpPr>
          <p:cNvPr id="103" name="Google Shape;103;p3"/>
          <p:cNvSpPr/>
          <p:nvPr/>
        </p:nvSpPr>
        <p:spPr>
          <a:xfrm>
            <a:off x="401261" y="2253518"/>
            <a:ext cx="8341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It works on the string bits 0's in the multiplier that requires no additional bit. Only shift the right-most string bits and a string of 1's in a multiplier bit weight 2^k to weight 2^m that can be considered as 2^k+ 1 to 2^m.</a:t>
            </a:r>
            <a:endParaRPr b="0" i="0" u="none" cap="none" strike="noStrike">
              <a:solidFill>
                <a:srgbClr val="000000"/>
              </a:solidFill>
              <a:latin typeface="Roboto"/>
              <a:ea typeface="Roboto"/>
              <a:cs typeface="Roboto"/>
              <a:sym typeface="Roboto"/>
            </a:endParaRPr>
          </a:p>
        </p:txBody>
      </p:sp>
      <p:sp>
        <p:nvSpPr>
          <p:cNvPr id="104" name="Google Shape;104;p3"/>
          <p:cNvSpPr/>
          <p:nvPr/>
        </p:nvSpPr>
        <p:spPr>
          <a:xfrm>
            <a:off x="401319" y="3251702"/>
            <a:ext cx="8293500" cy="5847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As in all multiplication schemes, booth’s algorithm requires examination of the </a:t>
            </a:r>
            <a:r>
              <a:rPr b="1" i="0" lang="en-US" u="none" cap="none" strike="noStrike">
                <a:solidFill>
                  <a:srgbClr val="000000"/>
                </a:solidFill>
                <a:latin typeface="Roboto"/>
                <a:ea typeface="Roboto"/>
                <a:cs typeface="Roboto"/>
                <a:sym typeface="Roboto"/>
              </a:rPr>
              <a:t>multiplier bits</a:t>
            </a:r>
            <a:r>
              <a:rPr b="0" i="0" lang="en-US" u="none" cap="none" strike="noStrike">
                <a:solidFill>
                  <a:srgbClr val="000000"/>
                </a:solidFill>
                <a:latin typeface="Roboto"/>
                <a:ea typeface="Roboto"/>
                <a:cs typeface="Roboto"/>
                <a:sym typeface="Roboto"/>
              </a:rPr>
              <a:t> and shifting of the partial product.</a:t>
            </a:r>
            <a:endParaRPr b="0" i="0" u="none" cap="none" strike="noStrike">
              <a:solidFill>
                <a:srgbClr val="000000"/>
              </a:solidFill>
              <a:latin typeface="Roboto"/>
              <a:ea typeface="Roboto"/>
              <a:cs typeface="Roboto"/>
              <a:sym typeface="Roboto"/>
            </a:endParaRPr>
          </a:p>
        </p:txBody>
      </p:sp>
      <p:sp>
        <p:nvSpPr>
          <p:cNvPr id="105" name="Google Shape;105;p3"/>
          <p:cNvSpPr txBox="1"/>
          <p:nvPr/>
        </p:nvSpPr>
        <p:spPr>
          <a:xfrm>
            <a:off x="122130"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2000" u="none" cap="none" strike="noStrike">
                <a:solidFill>
                  <a:srgbClr val="8181EF"/>
                </a:solidFill>
                <a:latin typeface="Roboto Black"/>
                <a:ea typeface="Roboto Black"/>
                <a:cs typeface="Roboto Black"/>
                <a:sym typeface="Roboto Black"/>
              </a:rPr>
              <a:t>Booth’s algorithm</a:t>
            </a:r>
            <a:endParaRPr b="0" i="0" sz="2000" u="none" cap="none" strike="noStrike">
              <a:solidFill>
                <a:srgbClr val="8181EF"/>
              </a:solidFill>
              <a:latin typeface="Roboto Black"/>
              <a:ea typeface="Roboto Black"/>
              <a:cs typeface="Roboto Black"/>
              <a:sym typeface="Roboto Bla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11" name="Google Shape;111;p4"/>
          <p:cNvSpPr/>
          <p:nvPr/>
        </p:nvSpPr>
        <p:spPr>
          <a:xfrm>
            <a:off x="425268" y="990798"/>
            <a:ext cx="8293500" cy="584735"/>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Prior to the shifting, the multiplicand may be added to the partial product, subtracted from the partial product, or left unchanged according to following rules:</a:t>
            </a:r>
            <a:endParaRPr b="0" i="0" u="none" cap="none" strike="noStrike">
              <a:solidFill>
                <a:srgbClr val="000000"/>
              </a:solidFill>
              <a:latin typeface="Roboto"/>
              <a:ea typeface="Roboto"/>
              <a:cs typeface="Roboto"/>
              <a:sym typeface="Roboto"/>
            </a:endParaRPr>
          </a:p>
        </p:txBody>
      </p:sp>
      <p:sp>
        <p:nvSpPr>
          <p:cNvPr id="112" name="Google Shape;112;p4"/>
          <p:cNvSpPr/>
          <p:nvPr/>
        </p:nvSpPr>
        <p:spPr>
          <a:xfrm>
            <a:off x="442566" y="1996718"/>
            <a:ext cx="8293500" cy="584735"/>
          </a:xfrm>
          <a:prstGeom prst="rect">
            <a:avLst/>
          </a:prstGeom>
          <a:noFill/>
          <a:ln>
            <a:noFill/>
          </a:ln>
        </p:spPr>
        <p:txBody>
          <a:bodyPr anchorCtr="0" anchor="t" bIns="45700" lIns="91425" spcFirstLastPara="1" rIns="91425" wrap="square" tIns="45700">
            <a:spAutoFit/>
          </a:bodyPr>
          <a:lstStyle/>
          <a:p>
            <a:pPr indent="-317500" lvl="0" marL="342900" marR="0" rtl="0" algn="just">
              <a:lnSpc>
                <a:spcPct val="150000"/>
              </a:lnSpc>
              <a:spcBef>
                <a:spcPts val="0"/>
              </a:spcBef>
              <a:spcAft>
                <a:spcPts val="0"/>
              </a:spcAft>
              <a:buClr>
                <a:srgbClr val="000000"/>
              </a:buClr>
              <a:buSzPts val="1400"/>
              <a:buFont typeface="Roboto"/>
              <a:buAutoNum type="arabicPeriod"/>
            </a:pPr>
            <a:r>
              <a:rPr b="0" i="0" lang="en-US" u="none" cap="none" strike="noStrike">
                <a:solidFill>
                  <a:srgbClr val="000000"/>
                </a:solidFill>
                <a:latin typeface="Roboto"/>
                <a:ea typeface="Roboto"/>
                <a:cs typeface="Roboto"/>
                <a:sym typeface="Roboto"/>
              </a:rPr>
              <a:t>The multiplicand is subtracted from the partial product upon encountering the first least significant 1 in a string of 1’s in the multiplier.</a:t>
            </a:r>
            <a:endParaRPr b="0" i="0" u="none" cap="none" strike="noStrike">
              <a:solidFill>
                <a:srgbClr val="000000"/>
              </a:solidFill>
              <a:latin typeface="Roboto"/>
              <a:ea typeface="Roboto"/>
              <a:cs typeface="Roboto"/>
              <a:sym typeface="Roboto"/>
            </a:endParaRPr>
          </a:p>
        </p:txBody>
      </p:sp>
      <p:sp>
        <p:nvSpPr>
          <p:cNvPr id="113" name="Google Shape;113;p4"/>
          <p:cNvSpPr/>
          <p:nvPr/>
        </p:nvSpPr>
        <p:spPr>
          <a:xfrm>
            <a:off x="442568" y="3002654"/>
            <a:ext cx="8293500" cy="584700"/>
          </a:xfrm>
          <a:prstGeom prst="rect">
            <a:avLst/>
          </a:prstGeom>
          <a:noFill/>
          <a:ln>
            <a:noFill/>
          </a:ln>
        </p:spPr>
        <p:txBody>
          <a:bodyPr anchorCtr="0" anchor="t" bIns="45700" lIns="91425" spcFirstLastPara="1" rIns="91425" wrap="square" tIns="45700">
            <a:spAutoFit/>
          </a:bodyPr>
          <a:lstStyle/>
          <a:p>
            <a:pPr indent="-317500" lvl="0" marL="342900" marR="0" rtl="0" algn="just">
              <a:lnSpc>
                <a:spcPct val="100000"/>
              </a:lnSpc>
              <a:spcBef>
                <a:spcPts val="0"/>
              </a:spcBef>
              <a:spcAft>
                <a:spcPts val="0"/>
              </a:spcAft>
              <a:buClr>
                <a:srgbClr val="000000"/>
              </a:buClr>
              <a:buSzPts val="1400"/>
              <a:buFont typeface="Roboto"/>
              <a:buAutoNum type="arabicPeriod" startAt="2"/>
            </a:pPr>
            <a:r>
              <a:rPr b="0" i="0" lang="en-US" u="none" cap="none" strike="noStrike">
                <a:solidFill>
                  <a:srgbClr val="000000"/>
                </a:solidFill>
                <a:latin typeface="Roboto"/>
                <a:ea typeface="Roboto"/>
                <a:cs typeface="Roboto"/>
                <a:sym typeface="Roboto"/>
              </a:rPr>
              <a:t>The multiplicand is added to the partial product upon encountering the first 0 (provided that there was a previous ‘1’) in a string of 0’s in the multiplier.</a:t>
            </a:r>
            <a:endParaRPr b="0" i="0" u="none" cap="none" strike="noStrike">
              <a:solidFill>
                <a:srgbClr val="000000"/>
              </a:solidFill>
              <a:latin typeface="Roboto"/>
              <a:ea typeface="Roboto"/>
              <a:cs typeface="Roboto"/>
              <a:sym typeface="Roboto"/>
            </a:endParaRPr>
          </a:p>
        </p:txBody>
      </p:sp>
      <p:sp>
        <p:nvSpPr>
          <p:cNvPr id="114" name="Google Shape;114;p4"/>
          <p:cNvSpPr/>
          <p:nvPr/>
        </p:nvSpPr>
        <p:spPr>
          <a:xfrm>
            <a:off x="442604" y="3852474"/>
            <a:ext cx="8293500" cy="584700"/>
          </a:xfrm>
          <a:prstGeom prst="rect">
            <a:avLst/>
          </a:prstGeom>
          <a:noFill/>
          <a:ln>
            <a:noFill/>
          </a:ln>
        </p:spPr>
        <p:txBody>
          <a:bodyPr anchorCtr="0" anchor="t" bIns="45700" lIns="91425" spcFirstLastPara="1" rIns="91425" wrap="square" tIns="45700">
            <a:spAutoFit/>
          </a:bodyPr>
          <a:lstStyle/>
          <a:p>
            <a:pPr indent="-304800" lvl="0" marL="342900" marR="0" rtl="0" algn="just">
              <a:lnSpc>
                <a:spcPct val="100000"/>
              </a:lnSpc>
              <a:spcBef>
                <a:spcPts val="0"/>
              </a:spcBef>
              <a:spcAft>
                <a:spcPts val="0"/>
              </a:spcAft>
              <a:buClr>
                <a:srgbClr val="000000"/>
              </a:buClr>
              <a:buSzPts val="1200"/>
              <a:buFont typeface="Roboto"/>
              <a:buAutoNum type="arabicPeriod" startAt="3"/>
            </a:pPr>
            <a:r>
              <a:rPr b="0" i="0" lang="en-US" u="none" cap="none" strike="noStrike">
                <a:solidFill>
                  <a:srgbClr val="000000"/>
                </a:solidFill>
                <a:latin typeface="Roboto"/>
                <a:ea typeface="Roboto"/>
                <a:cs typeface="Roboto"/>
                <a:sym typeface="Roboto"/>
              </a:rPr>
              <a:t>The partial product does not change when the multiplier bit is identical to the previous multiplier bit.</a:t>
            </a:r>
            <a:endParaRPr b="0" i="0" u="none" cap="none" strike="noStrike">
              <a:solidFill>
                <a:srgbClr val="000000"/>
              </a:solidFill>
              <a:latin typeface="Roboto"/>
              <a:ea typeface="Roboto"/>
              <a:cs typeface="Roboto"/>
              <a:sym typeface="Roboto"/>
            </a:endParaRPr>
          </a:p>
        </p:txBody>
      </p:sp>
      <p:sp>
        <p:nvSpPr>
          <p:cNvPr id="115" name="Google Shape;115;p4"/>
          <p:cNvSpPr txBox="1"/>
          <p:nvPr/>
        </p:nvSpPr>
        <p:spPr>
          <a:xfrm>
            <a:off x="186981" y="540900"/>
            <a:ext cx="19791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2000" u="none" cap="none" strike="noStrike">
                <a:solidFill>
                  <a:srgbClr val="8181EF"/>
                </a:solidFill>
                <a:latin typeface="Roboto"/>
                <a:ea typeface="Roboto"/>
                <a:cs typeface="Roboto"/>
                <a:sym typeface="Roboto"/>
              </a:rPr>
              <a:t>Explanation :</a:t>
            </a:r>
            <a:endParaRPr b="1" i="0" sz="20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p:nvPr/>
        </p:nvSpPr>
        <p:spPr>
          <a:xfrm>
            <a:off x="478800" y="2884320"/>
            <a:ext cx="75960" cy="75960"/>
          </a:xfrm>
          <a:prstGeom prst="ellipse">
            <a:avLst/>
          </a:prstGeom>
          <a:solidFill>
            <a:srgbClr val="E5F0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21" name="Google Shape;121;p5"/>
          <p:cNvSpPr/>
          <p:nvPr/>
        </p:nvSpPr>
        <p:spPr>
          <a:xfrm>
            <a:off x="6950708" y="739297"/>
            <a:ext cx="687520" cy="261257"/>
          </a:xfrm>
          <a:prstGeom prst="ellipse">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START</a:t>
            </a:r>
            <a:endParaRPr b="0" i="0" sz="700" u="none" cap="none" strike="noStrike">
              <a:solidFill>
                <a:schemeClr val="lt1"/>
              </a:solidFill>
              <a:latin typeface="Roboto"/>
              <a:ea typeface="Roboto"/>
              <a:cs typeface="Roboto"/>
              <a:sym typeface="Roboto"/>
            </a:endParaRPr>
          </a:p>
        </p:txBody>
      </p:sp>
      <p:cxnSp>
        <p:nvCxnSpPr>
          <p:cNvPr id="122" name="Google Shape;122;p5"/>
          <p:cNvCxnSpPr>
            <a:stCxn id="121" idx="4"/>
          </p:cNvCxnSpPr>
          <p:nvPr/>
        </p:nvCxnSpPr>
        <p:spPr>
          <a:xfrm flipH="1">
            <a:off x="7291168" y="1000554"/>
            <a:ext cx="3300" cy="181200"/>
          </a:xfrm>
          <a:prstGeom prst="straightConnector1">
            <a:avLst/>
          </a:prstGeom>
          <a:noFill/>
          <a:ln cap="flat" cmpd="sng" w="19050">
            <a:solidFill>
              <a:srgbClr val="0070C0"/>
            </a:solidFill>
            <a:prstDash val="solid"/>
            <a:round/>
            <a:headEnd len="sm" w="sm" type="none"/>
            <a:tailEnd len="med" w="med" type="stealth"/>
          </a:ln>
        </p:spPr>
      </p:cxnSp>
      <p:sp>
        <p:nvSpPr>
          <p:cNvPr id="123" name="Google Shape;123;p5"/>
          <p:cNvSpPr/>
          <p:nvPr/>
        </p:nvSpPr>
        <p:spPr>
          <a:xfrm>
            <a:off x="6492245" y="1184885"/>
            <a:ext cx="1610746" cy="549260"/>
          </a:xfrm>
          <a:prstGeom prst="parallelogram">
            <a:avLst>
              <a:gd fmla="val 25000" name="adj"/>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Acc = 0, Q</a:t>
            </a:r>
            <a:r>
              <a:rPr b="0" i="0" lang="en-US" sz="600" u="none" cap="none" strike="noStrike">
                <a:solidFill>
                  <a:schemeClr val="lt1"/>
                </a:solidFill>
                <a:latin typeface="Roboto"/>
                <a:ea typeface="Roboto"/>
                <a:cs typeface="Roboto"/>
                <a:sym typeface="Roboto"/>
              </a:rPr>
              <a:t>-1</a:t>
            </a:r>
            <a:r>
              <a:rPr b="0" i="0" lang="en-US" sz="700" u="none" cap="none" strike="noStrike">
                <a:solidFill>
                  <a:schemeClr val="lt1"/>
                </a:solidFill>
                <a:latin typeface="Roboto"/>
                <a:ea typeface="Roboto"/>
                <a:cs typeface="Roboto"/>
                <a:sym typeface="Roboto"/>
              </a:rPr>
              <a:t> – 0</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M,&lt;- Multiplicand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Q &lt;- Multiplier</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Count &lt;- n</a:t>
            </a:r>
            <a:endParaRPr b="0" i="0" sz="700" u="none" cap="none" strike="noStrike">
              <a:solidFill>
                <a:schemeClr val="lt1"/>
              </a:solidFill>
              <a:latin typeface="Roboto"/>
              <a:ea typeface="Roboto"/>
              <a:cs typeface="Roboto"/>
              <a:sym typeface="Roboto"/>
            </a:endParaRPr>
          </a:p>
        </p:txBody>
      </p:sp>
      <p:cxnSp>
        <p:nvCxnSpPr>
          <p:cNvPr id="124" name="Google Shape;124;p5"/>
          <p:cNvCxnSpPr/>
          <p:nvPr/>
        </p:nvCxnSpPr>
        <p:spPr>
          <a:xfrm rot="5400000">
            <a:off x="7199965" y="1811687"/>
            <a:ext cx="181135" cy="3177"/>
          </a:xfrm>
          <a:prstGeom prst="straightConnector1">
            <a:avLst/>
          </a:prstGeom>
          <a:noFill/>
          <a:ln cap="flat" cmpd="sng" w="19050">
            <a:solidFill>
              <a:srgbClr val="0070C0"/>
            </a:solidFill>
            <a:prstDash val="solid"/>
            <a:round/>
            <a:headEnd len="sm" w="sm" type="none"/>
            <a:tailEnd len="med" w="med" type="stealth"/>
          </a:ln>
        </p:spPr>
      </p:cxnSp>
      <p:sp>
        <p:nvSpPr>
          <p:cNvPr id="125" name="Google Shape;125;p5"/>
          <p:cNvSpPr/>
          <p:nvPr/>
        </p:nvSpPr>
        <p:spPr>
          <a:xfrm>
            <a:off x="6941464" y="1913209"/>
            <a:ext cx="698236" cy="717452"/>
          </a:xfrm>
          <a:prstGeom prst="diamond">
            <a:avLst/>
          </a:prstGeom>
          <a:solidFill>
            <a:srgbClr val="0070C0"/>
          </a:solidFill>
          <a:ln cap="flat" cmpd="sng" w="25400">
            <a:solidFill>
              <a:srgbClr val="3061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Q,</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Q-1</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a:t>
            </a:r>
            <a:endParaRPr b="0" i="0" sz="700" u="none" cap="none" strike="noStrike">
              <a:solidFill>
                <a:schemeClr val="lt1"/>
              </a:solidFill>
              <a:latin typeface="Roboto"/>
              <a:ea typeface="Roboto"/>
              <a:cs typeface="Roboto"/>
              <a:sym typeface="Roboto"/>
            </a:endParaRPr>
          </a:p>
        </p:txBody>
      </p:sp>
      <p:cxnSp>
        <p:nvCxnSpPr>
          <p:cNvPr id="126" name="Google Shape;126;p5"/>
          <p:cNvCxnSpPr/>
          <p:nvPr/>
        </p:nvCxnSpPr>
        <p:spPr>
          <a:xfrm rot="10800000">
            <a:off x="6632918" y="2257864"/>
            <a:ext cx="302453" cy="7034"/>
          </a:xfrm>
          <a:prstGeom prst="straightConnector1">
            <a:avLst/>
          </a:prstGeom>
          <a:noFill/>
          <a:ln cap="flat" cmpd="sng" w="19050">
            <a:solidFill>
              <a:srgbClr val="0070C0"/>
            </a:solidFill>
            <a:prstDash val="solid"/>
            <a:round/>
            <a:headEnd len="sm" w="sm" type="none"/>
            <a:tailEnd len="med" w="med" type="stealth"/>
          </a:ln>
        </p:spPr>
      </p:cxnSp>
      <p:sp>
        <p:nvSpPr>
          <p:cNvPr id="127" name="Google Shape;127;p5"/>
          <p:cNvSpPr/>
          <p:nvPr/>
        </p:nvSpPr>
        <p:spPr>
          <a:xfrm>
            <a:off x="6654018" y="2074985"/>
            <a:ext cx="372793" cy="14067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Roboto"/>
                <a:ea typeface="Roboto"/>
                <a:cs typeface="Roboto"/>
                <a:sym typeface="Roboto"/>
              </a:rPr>
              <a:t>0, 1</a:t>
            </a:r>
            <a:endParaRPr b="0" i="0" sz="700" u="none" cap="none" strike="noStrike">
              <a:solidFill>
                <a:schemeClr val="dk1"/>
              </a:solidFill>
              <a:latin typeface="Roboto"/>
              <a:ea typeface="Roboto"/>
              <a:cs typeface="Roboto"/>
              <a:sym typeface="Roboto"/>
            </a:endParaRPr>
          </a:p>
        </p:txBody>
      </p:sp>
      <p:sp>
        <p:nvSpPr>
          <p:cNvPr id="128" name="Google Shape;128;p5"/>
          <p:cNvSpPr/>
          <p:nvPr/>
        </p:nvSpPr>
        <p:spPr>
          <a:xfrm>
            <a:off x="5711483" y="2131255"/>
            <a:ext cx="914400" cy="253218"/>
          </a:xfrm>
          <a:prstGeom prst="rect">
            <a:avLst/>
          </a:prstGeom>
          <a:solidFill>
            <a:srgbClr val="0070C0"/>
          </a:solidFill>
          <a:ln cap="flat" cmpd="sng" w="25400">
            <a:solidFill>
              <a:srgbClr val="3061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Acc &lt;- Acc + M</a:t>
            </a:r>
            <a:endParaRPr b="0" i="0" sz="700" u="none" cap="none" strike="noStrike">
              <a:solidFill>
                <a:schemeClr val="lt1"/>
              </a:solidFill>
              <a:latin typeface="Roboto"/>
              <a:ea typeface="Roboto"/>
              <a:cs typeface="Roboto"/>
              <a:sym typeface="Roboto"/>
            </a:endParaRPr>
          </a:p>
        </p:txBody>
      </p:sp>
      <p:cxnSp>
        <p:nvCxnSpPr>
          <p:cNvPr id="129" name="Google Shape;129;p5"/>
          <p:cNvCxnSpPr/>
          <p:nvPr/>
        </p:nvCxnSpPr>
        <p:spPr>
          <a:xfrm rot="5400000">
            <a:off x="5518227" y="2795331"/>
            <a:ext cx="794032" cy="2038"/>
          </a:xfrm>
          <a:prstGeom prst="straightConnector1">
            <a:avLst/>
          </a:prstGeom>
          <a:noFill/>
          <a:ln cap="flat" cmpd="sng" w="28575">
            <a:solidFill>
              <a:srgbClr val="3B7FF2"/>
            </a:solidFill>
            <a:prstDash val="solid"/>
            <a:round/>
            <a:headEnd len="sm" w="sm" type="none"/>
            <a:tailEnd len="sm" w="sm" type="none"/>
          </a:ln>
        </p:spPr>
      </p:cxnSp>
      <p:cxnSp>
        <p:nvCxnSpPr>
          <p:cNvPr id="130" name="Google Shape;130;p5"/>
          <p:cNvCxnSpPr/>
          <p:nvPr/>
        </p:nvCxnSpPr>
        <p:spPr>
          <a:xfrm>
            <a:off x="5922498" y="3193370"/>
            <a:ext cx="543600" cy="4689"/>
          </a:xfrm>
          <a:prstGeom prst="straightConnector1">
            <a:avLst/>
          </a:prstGeom>
          <a:noFill/>
          <a:ln cap="flat" cmpd="sng" w="19050">
            <a:solidFill>
              <a:srgbClr val="0070C0"/>
            </a:solidFill>
            <a:prstDash val="solid"/>
            <a:round/>
            <a:headEnd len="sm" w="sm" type="none"/>
            <a:tailEnd len="med" w="med" type="stealth"/>
          </a:ln>
        </p:spPr>
      </p:cxnSp>
      <p:sp>
        <p:nvSpPr>
          <p:cNvPr id="131" name="Google Shape;131;p5"/>
          <p:cNvSpPr/>
          <p:nvPr/>
        </p:nvSpPr>
        <p:spPr>
          <a:xfrm>
            <a:off x="6450041" y="2958905"/>
            <a:ext cx="1709223" cy="424375"/>
          </a:xfrm>
          <a:prstGeom prst="rect">
            <a:avLst/>
          </a:prstGeom>
          <a:solidFill>
            <a:srgbClr val="0070C0"/>
          </a:solidFill>
          <a:ln cap="flat" cmpd="sng" w="25400">
            <a:solidFill>
              <a:srgbClr val="3061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Arithmetic Right Shift of Acc ,Q, Q</a:t>
            </a:r>
            <a:r>
              <a:rPr b="0" i="0" lang="en-US" sz="600" u="none" cap="none" strike="noStrike">
                <a:solidFill>
                  <a:schemeClr val="lt1"/>
                </a:solidFill>
                <a:latin typeface="Roboto"/>
                <a:ea typeface="Roboto"/>
                <a:cs typeface="Roboto"/>
                <a:sym typeface="Roboto"/>
              </a:rPr>
              <a:t>-1</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Count &lt;- Count - 1</a:t>
            </a:r>
            <a:endParaRPr b="0" i="0" sz="700" u="none" cap="none" strike="noStrike">
              <a:solidFill>
                <a:schemeClr val="lt1"/>
              </a:solidFill>
              <a:latin typeface="Roboto"/>
              <a:ea typeface="Roboto"/>
              <a:cs typeface="Roboto"/>
              <a:sym typeface="Roboto"/>
            </a:endParaRPr>
          </a:p>
        </p:txBody>
      </p:sp>
      <p:cxnSp>
        <p:nvCxnSpPr>
          <p:cNvPr id="132" name="Google Shape;132;p5"/>
          <p:cNvCxnSpPr/>
          <p:nvPr/>
        </p:nvCxnSpPr>
        <p:spPr>
          <a:xfrm flipH="1" rot="10800000">
            <a:off x="7650500" y="2262550"/>
            <a:ext cx="302453" cy="7034"/>
          </a:xfrm>
          <a:prstGeom prst="straightConnector1">
            <a:avLst/>
          </a:prstGeom>
          <a:noFill/>
          <a:ln cap="flat" cmpd="sng" w="19050">
            <a:solidFill>
              <a:srgbClr val="0070C0"/>
            </a:solidFill>
            <a:prstDash val="solid"/>
            <a:round/>
            <a:headEnd len="sm" w="sm" type="none"/>
            <a:tailEnd len="med" w="med" type="stealth"/>
          </a:ln>
        </p:spPr>
      </p:cxnSp>
      <p:sp>
        <p:nvSpPr>
          <p:cNvPr id="133" name="Google Shape;133;p5"/>
          <p:cNvSpPr/>
          <p:nvPr/>
        </p:nvSpPr>
        <p:spPr>
          <a:xfrm>
            <a:off x="7552022" y="2072637"/>
            <a:ext cx="372793" cy="14067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Roboto"/>
                <a:ea typeface="Roboto"/>
                <a:cs typeface="Roboto"/>
                <a:sym typeface="Roboto"/>
              </a:rPr>
              <a:t>1, 0</a:t>
            </a:r>
            <a:endParaRPr b="0" i="0" sz="700" u="none" cap="none" strike="noStrike">
              <a:solidFill>
                <a:schemeClr val="dk1"/>
              </a:solidFill>
              <a:latin typeface="Roboto"/>
              <a:ea typeface="Roboto"/>
              <a:cs typeface="Roboto"/>
              <a:sym typeface="Roboto"/>
            </a:endParaRPr>
          </a:p>
        </p:txBody>
      </p:sp>
      <p:sp>
        <p:nvSpPr>
          <p:cNvPr id="134" name="Google Shape;134;p5"/>
          <p:cNvSpPr/>
          <p:nvPr/>
        </p:nvSpPr>
        <p:spPr>
          <a:xfrm>
            <a:off x="7967003" y="2135944"/>
            <a:ext cx="914400" cy="253218"/>
          </a:xfrm>
          <a:prstGeom prst="rect">
            <a:avLst/>
          </a:prstGeom>
          <a:solidFill>
            <a:srgbClr val="0070C0"/>
          </a:solidFill>
          <a:ln cap="flat" cmpd="sng" w="25400">
            <a:solidFill>
              <a:srgbClr val="3061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Acc &lt;- Acc - M</a:t>
            </a:r>
            <a:endParaRPr b="0" i="0" sz="700" u="none" cap="none" strike="noStrike">
              <a:solidFill>
                <a:schemeClr val="lt1"/>
              </a:solidFill>
              <a:latin typeface="Roboto"/>
              <a:ea typeface="Roboto"/>
              <a:cs typeface="Roboto"/>
              <a:sym typeface="Roboto"/>
            </a:endParaRPr>
          </a:p>
        </p:txBody>
      </p:sp>
      <p:cxnSp>
        <p:nvCxnSpPr>
          <p:cNvPr id="135" name="Google Shape;135;p5"/>
          <p:cNvCxnSpPr/>
          <p:nvPr/>
        </p:nvCxnSpPr>
        <p:spPr>
          <a:xfrm rot="5400000">
            <a:off x="8315333" y="2785958"/>
            <a:ext cx="794032" cy="2038"/>
          </a:xfrm>
          <a:prstGeom prst="straightConnector1">
            <a:avLst/>
          </a:prstGeom>
          <a:noFill/>
          <a:ln cap="flat" cmpd="sng" w="28575">
            <a:solidFill>
              <a:srgbClr val="3B7FF2"/>
            </a:solidFill>
            <a:prstDash val="solid"/>
            <a:round/>
            <a:headEnd len="sm" w="sm" type="none"/>
            <a:tailEnd len="sm" w="sm" type="none"/>
          </a:ln>
        </p:spPr>
      </p:cxnSp>
      <p:cxnSp>
        <p:nvCxnSpPr>
          <p:cNvPr id="136" name="Google Shape;136;p5"/>
          <p:cNvCxnSpPr/>
          <p:nvPr/>
        </p:nvCxnSpPr>
        <p:spPr>
          <a:xfrm flipH="1">
            <a:off x="8170952" y="3183997"/>
            <a:ext cx="543600" cy="4689"/>
          </a:xfrm>
          <a:prstGeom prst="straightConnector1">
            <a:avLst/>
          </a:prstGeom>
          <a:noFill/>
          <a:ln cap="flat" cmpd="sng" w="19050">
            <a:solidFill>
              <a:srgbClr val="0070C0"/>
            </a:solidFill>
            <a:prstDash val="solid"/>
            <a:round/>
            <a:headEnd len="sm" w="sm" type="none"/>
            <a:tailEnd len="med" w="med" type="stealth"/>
          </a:ln>
        </p:spPr>
      </p:cxnSp>
      <p:sp>
        <p:nvSpPr>
          <p:cNvPr id="137" name="Google Shape;137;p5"/>
          <p:cNvSpPr/>
          <p:nvPr/>
        </p:nvSpPr>
        <p:spPr>
          <a:xfrm>
            <a:off x="6785316" y="2677561"/>
            <a:ext cx="372793" cy="14067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Roboto"/>
                <a:ea typeface="Roboto"/>
                <a:cs typeface="Roboto"/>
                <a:sym typeface="Roboto"/>
              </a:rPr>
              <a:t>0, 0</a:t>
            </a:r>
            <a:endParaRPr b="0" i="0" sz="700" u="none" cap="none" strike="noStrike">
              <a:solidFill>
                <a:schemeClr val="dk1"/>
              </a:solidFill>
              <a:latin typeface="Roboto"/>
              <a:ea typeface="Roboto"/>
              <a:cs typeface="Roboto"/>
              <a:sym typeface="Roboto"/>
            </a:endParaRPr>
          </a:p>
        </p:txBody>
      </p:sp>
      <p:sp>
        <p:nvSpPr>
          <p:cNvPr id="138" name="Google Shape;138;p5"/>
          <p:cNvSpPr/>
          <p:nvPr/>
        </p:nvSpPr>
        <p:spPr>
          <a:xfrm>
            <a:off x="7465266" y="2675213"/>
            <a:ext cx="372793" cy="14067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Roboto"/>
                <a:ea typeface="Roboto"/>
                <a:cs typeface="Roboto"/>
                <a:sym typeface="Roboto"/>
              </a:rPr>
              <a:t>1, 1</a:t>
            </a:r>
            <a:endParaRPr b="0" i="0" sz="700" u="none" cap="none" strike="noStrike">
              <a:solidFill>
                <a:schemeClr val="dk1"/>
              </a:solidFill>
              <a:latin typeface="Roboto"/>
              <a:ea typeface="Roboto"/>
              <a:cs typeface="Roboto"/>
              <a:sym typeface="Roboto"/>
            </a:endParaRPr>
          </a:p>
        </p:txBody>
      </p:sp>
      <p:cxnSp>
        <p:nvCxnSpPr>
          <p:cNvPr id="139" name="Google Shape;139;p5"/>
          <p:cNvCxnSpPr>
            <a:endCxn id="131" idx="0"/>
          </p:cNvCxnSpPr>
          <p:nvPr/>
        </p:nvCxnSpPr>
        <p:spPr>
          <a:xfrm>
            <a:off x="7289652" y="2627705"/>
            <a:ext cx="15000" cy="331200"/>
          </a:xfrm>
          <a:prstGeom prst="straightConnector1">
            <a:avLst/>
          </a:prstGeom>
          <a:noFill/>
          <a:ln cap="flat" cmpd="sng" w="19050">
            <a:solidFill>
              <a:srgbClr val="0070C0"/>
            </a:solidFill>
            <a:prstDash val="solid"/>
            <a:round/>
            <a:headEnd len="sm" w="sm" type="none"/>
            <a:tailEnd len="med" w="med" type="stealth"/>
          </a:ln>
        </p:spPr>
      </p:cxnSp>
      <p:cxnSp>
        <p:nvCxnSpPr>
          <p:cNvPr id="140" name="Google Shape;140;p5"/>
          <p:cNvCxnSpPr/>
          <p:nvPr/>
        </p:nvCxnSpPr>
        <p:spPr>
          <a:xfrm flipH="1" rot="-5400000">
            <a:off x="7147456" y="3525027"/>
            <a:ext cx="300686" cy="6668"/>
          </a:xfrm>
          <a:prstGeom prst="straightConnector1">
            <a:avLst/>
          </a:prstGeom>
          <a:noFill/>
          <a:ln cap="flat" cmpd="sng" w="19050">
            <a:solidFill>
              <a:srgbClr val="0070C0"/>
            </a:solidFill>
            <a:prstDash val="solid"/>
            <a:round/>
            <a:headEnd len="sm" w="sm" type="none"/>
            <a:tailEnd len="med" w="med" type="stealth"/>
          </a:ln>
        </p:spPr>
      </p:cxnSp>
      <p:sp>
        <p:nvSpPr>
          <p:cNvPr id="141" name="Google Shape;141;p5"/>
          <p:cNvSpPr/>
          <p:nvPr/>
        </p:nvSpPr>
        <p:spPr>
          <a:xfrm>
            <a:off x="6858000" y="3676360"/>
            <a:ext cx="865161" cy="783098"/>
          </a:xfrm>
          <a:prstGeom prst="diamond">
            <a:avLst/>
          </a:prstGeom>
          <a:solidFill>
            <a:srgbClr val="0070C0"/>
          </a:solidFill>
          <a:ln cap="flat" cmpd="sng" w="25400">
            <a:solidFill>
              <a:srgbClr val="3061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Count == 0</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a:t>
            </a:r>
            <a:endParaRPr b="0" i="0" sz="700" u="none" cap="none" strike="noStrike">
              <a:solidFill>
                <a:schemeClr val="lt1"/>
              </a:solidFill>
              <a:latin typeface="Roboto"/>
              <a:ea typeface="Roboto"/>
              <a:cs typeface="Roboto"/>
              <a:sym typeface="Roboto"/>
            </a:endParaRPr>
          </a:p>
        </p:txBody>
      </p:sp>
      <p:cxnSp>
        <p:nvCxnSpPr>
          <p:cNvPr id="142" name="Google Shape;142;p5"/>
          <p:cNvCxnSpPr/>
          <p:nvPr/>
        </p:nvCxnSpPr>
        <p:spPr>
          <a:xfrm flipH="1" rot="10800000">
            <a:off x="7746629" y="4060870"/>
            <a:ext cx="302453" cy="7034"/>
          </a:xfrm>
          <a:prstGeom prst="straightConnector1">
            <a:avLst/>
          </a:prstGeom>
          <a:noFill/>
          <a:ln cap="flat" cmpd="sng" w="19050">
            <a:solidFill>
              <a:srgbClr val="0070C0"/>
            </a:solidFill>
            <a:prstDash val="solid"/>
            <a:round/>
            <a:headEnd len="sm" w="sm" type="none"/>
            <a:tailEnd len="med" w="med" type="stealth"/>
          </a:ln>
        </p:spPr>
      </p:cxnSp>
      <p:sp>
        <p:nvSpPr>
          <p:cNvPr id="143" name="Google Shape;143;p5"/>
          <p:cNvSpPr/>
          <p:nvPr/>
        </p:nvSpPr>
        <p:spPr>
          <a:xfrm>
            <a:off x="7648151" y="3870957"/>
            <a:ext cx="372793" cy="14067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Roboto"/>
                <a:ea typeface="Roboto"/>
                <a:cs typeface="Roboto"/>
                <a:sym typeface="Roboto"/>
              </a:rPr>
              <a:t>Y</a:t>
            </a:r>
            <a:endParaRPr b="0" i="0" sz="700" u="none" cap="none" strike="noStrike">
              <a:solidFill>
                <a:schemeClr val="dk1"/>
              </a:solidFill>
              <a:latin typeface="Roboto"/>
              <a:ea typeface="Roboto"/>
              <a:cs typeface="Roboto"/>
              <a:sym typeface="Roboto"/>
            </a:endParaRPr>
          </a:p>
        </p:txBody>
      </p:sp>
      <p:sp>
        <p:nvSpPr>
          <p:cNvPr id="144" name="Google Shape;144;p5"/>
          <p:cNvSpPr/>
          <p:nvPr/>
        </p:nvSpPr>
        <p:spPr>
          <a:xfrm>
            <a:off x="8059711" y="3937353"/>
            <a:ext cx="687520" cy="261257"/>
          </a:xfrm>
          <a:prstGeom prst="ellipse">
            <a:avLst/>
          </a:prstGeom>
          <a:solidFill>
            <a:srgbClr val="0070C0"/>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Roboto"/>
                <a:ea typeface="Roboto"/>
                <a:cs typeface="Roboto"/>
                <a:sym typeface="Roboto"/>
              </a:rPr>
              <a:t>STOP</a:t>
            </a:r>
            <a:endParaRPr b="0" i="0" sz="700" u="none" cap="none" strike="noStrike">
              <a:solidFill>
                <a:schemeClr val="lt1"/>
              </a:solidFill>
              <a:latin typeface="Roboto"/>
              <a:ea typeface="Roboto"/>
              <a:cs typeface="Roboto"/>
              <a:sym typeface="Roboto"/>
            </a:endParaRPr>
          </a:p>
        </p:txBody>
      </p:sp>
      <p:cxnSp>
        <p:nvCxnSpPr>
          <p:cNvPr id="145" name="Google Shape;145;p5"/>
          <p:cNvCxnSpPr/>
          <p:nvPr/>
        </p:nvCxnSpPr>
        <p:spPr>
          <a:xfrm>
            <a:off x="5282419" y="4058529"/>
            <a:ext cx="1555033" cy="16655"/>
          </a:xfrm>
          <a:prstGeom prst="straightConnector1">
            <a:avLst/>
          </a:prstGeom>
          <a:noFill/>
          <a:ln cap="flat" cmpd="sng" w="28575">
            <a:solidFill>
              <a:srgbClr val="3B7FF2"/>
            </a:solidFill>
            <a:prstDash val="solid"/>
            <a:round/>
            <a:headEnd len="sm" w="sm" type="none"/>
            <a:tailEnd len="sm" w="sm" type="none"/>
          </a:ln>
        </p:spPr>
      </p:cxnSp>
      <p:cxnSp>
        <p:nvCxnSpPr>
          <p:cNvPr id="146" name="Google Shape;146;p5"/>
          <p:cNvCxnSpPr/>
          <p:nvPr/>
        </p:nvCxnSpPr>
        <p:spPr>
          <a:xfrm rot="5400000">
            <a:off x="4181004" y="2905531"/>
            <a:ext cx="2262551" cy="24687"/>
          </a:xfrm>
          <a:prstGeom prst="straightConnector1">
            <a:avLst/>
          </a:prstGeom>
          <a:noFill/>
          <a:ln cap="flat" cmpd="sng" w="28575">
            <a:solidFill>
              <a:srgbClr val="3B7FF2"/>
            </a:solidFill>
            <a:prstDash val="solid"/>
            <a:round/>
            <a:headEnd len="sm" w="sm" type="none"/>
            <a:tailEnd len="sm" w="sm" type="none"/>
          </a:ln>
        </p:spPr>
      </p:cxnSp>
      <p:cxnSp>
        <p:nvCxnSpPr>
          <p:cNvPr id="147" name="Google Shape;147;p5"/>
          <p:cNvCxnSpPr/>
          <p:nvPr/>
        </p:nvCxnSpPr>
        <p:spPr>
          <a:xfrm>
            <a:off x="5324622" y="1786596"/>
            <a:ext cx="1948024" cy="9383"/>
          </a:xfrm>
          <a:prstGeom prst="straightConnector1">
            <a:avLst/>
          </a:prstGeom>
          <a:noFill/>
          <a:ln cap="flat" cmpd="sng" w="19050">
            <a:solidFill>
              <a:srgbClr val="0070C0"/>
            </a:solidFill>
            <a:prstDash val="solid"/>
            <a:round/>
            <a:headEnd len="sm" w="sm" type="none"/>
            <a:tailEnd len="med" w="med" type="stealth"/>
          </a:ln>
        </p:spPr>
      </p:cxnSp>
      <p:sp>
        <p:nvSpPr>
          <p:cNvPr id="148" name="Google Shape;148;p5"/>
          <p:cNvSpPr/>
          <p:nvPr/>
        </p:nvSpPr>
        <p:spPr>
          <a:xfrm>
            <a:off x="5985819" y="3847511"/>
            <a:ext cx="372793" cy="14067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Roboto"/>
                <a:ea typeface="Roboto"/>
                <a:cs typeface="Roboto"/>
                <a:sym typeface="Roboto"/>
              </a:rPr>
              <a:t>N</a:t>
            </a:r>
            <a:endParaRPr b="0" i="0" sz="700" u="none" cap="none" strike="noStrike">
              <a:solidFill>
                <a:schemeClr val="dk1"/>
              </a:solidFill>
              <a:latin typeface="Roboto"/>
              <a:ea typeface="Roboto"/>
              <a:cs typeface="Roboto"/>
              <a:sym typeface="Roboto"/>
            </a:endParaRPr>
          </a:p>
        </p:txBody>
      </p:sp>
      <p:sp>
        <p:nvSpPr>
          <p:cNvPr id="149" name="Google Shape;149;p5"/>
          <p:cNvSpPr/>
          <p:nvPr/>
        </p:nvSpPr>
        <p:spPr>
          <a:xfrm>
            <a:off x="191679" y="1237524"/>
            <a:ext cx="4821000" cy="276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Initially, Acc and Q-1 bits are set to 0</a:t>
            </a:r>
            <a:endParaRPr b="0" i="0" u="none" cap="none" strike="noStrike">
              <a:solidFill>
                <a:srgbClr val="000000"/>
              </a:solidFill>
              <a:latin typeface="Roboto"/>
              <a:ea typeface="Roboto"/>
              <a:cs typeface="Roboto"/>
              <a:sym typeface="Roboto"/>
            </a:endParaRPr>
          </a:p>
        </p:txBody>
      </p:sp>
      <p:sp>
        <p:nvSpPr>
          <p:cNvPr id="150" name="Google Shape;150;p5"/>
          <p:cNvSpPr/>
          <p:nvPr/>
        </p:nvSpPr>
        <p:spPr>
          <a:xfrm>
            <a:off x="186978" y="1469846"/>
            <a:ext cx="4821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There are M that represent the multiplicand bits, and Q represents the multiplier bits.</a:t>
            </a:r>
            <a:endParaRPr b="0" i="0" u="none" cap="none" strike="noStrike">
              <a:solidFill>
                <a:srgbClr val="000000"/>
              </a:solidFill>
              <a:latin typeface="Roboto"/>
              <a:ea typeface="Roboto"/>
              <a:cs typeface="Roboto"/>
              <a:sym typeface="Roboto"/>
            </a:endParaRPr>
          </a:p>
        </p:txBody>
      </p:sp>
      <p:sp>
        <p:nvSpPr>
          <p:cNvPr id="151" name="Google Shape;151;p5"/>
          <p:cNvSpPr/>
          <p:nvPr/>
        </p:nvSpPr>
        <p:spPr>
          <a:xfrm>
            <a:off x="189329" y="1968563"/>
            <a:ext cx="4821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The Count is a sequence counter that represents the total bits set n, which is equal to the number of bits in the multiplier.</a:t>
            </a:r>
            <a:endParaRPr b="0" i="0" u="none" cap="none" strike="noStrike">
              <a:solidFill>
                <a:srgbClr val="000000"/>
              </a:solidFill>
              <a:latin typeface="Roboto"/>
              <a:ea typeface="Roboto"/>
              <a:cs typeface="Roboto"/>
              <a:sym typeface="Roboto"/>
            </a:endParaRPr>
          </a:p>
        </p:txBody>
      </p:sp>
      <p:sp>
        <p:nvSpPr>
          <p:cNvPr id="152" name="Google Shape;152;p5"/>
          <p:cNvSpPr/>
          <p:nvPr/>
        </p:nvSpPr>
        <p:spPr>
          <a:xfrm>
            <a:off x="186969" y="792762"/>
            <a:ext cx="4821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An extra Flip-Flop Q-1 is appended to Q to facilitate a double inspection of the multiplier. </a:t>
            </a:r>
            <a:endParaRPr b="0" i="0" u="none" cap="none" strike="noStrike">
              <a:solidFill>
                <a:srgbClr val="000000"/>
              </a:solidFill>
              <a:latin typeface="Roboto"/>
              <a:ea typeface="Roboto"/>
              <a:cs typeface="Roboto"/>
              <a:sym typeface="Roboto"/>
            </a:endParaRPr>
          </a:p>
        </p:txBody>
      </p:sp>
      <p:sp>
        <p:nvSpPr>
          <p:cNvPr id="153" name="Google Shape;153;p5"/>
          <p:cNvSpPr/>
          <p:nvPr/>
        </p:nvSpPr>
        <p:spPr>
          <a:xfrm>
            <a:off x="224144" y="2599212"/>
            <a:ext cx="4821000" cy="64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If the two of the multipliers equal to 0 1, we need to perform the addition of the multiplicand to the partial product in accumulator Acc and then perform the Arithmetic Right Shift (ARS) operation.</a:t>
            </a:r>
            <a:endParaRPr b="0" i="0" u="none" cap="none" strike="noStrike">
              <a:solidFill>
                <a:srgbClr val="000000"/>
              </a:solidFill>
              <a:latin typeface="Roboto"/>
              <a:ea typeface="Roboto"/>
              <a:cs typeface="Roboto"/>
              <a:sym typeface="Roboto"/>
            </a:endParaRPr>
          </a:p>
        </p:txBody>
      </p:sp>
      <p:sp>
        <p:nvSpPr>
          <p:cNvPr id="154" name="Google Shape;154;p5"/>
          <p:cNvSpPr/>
          <p:nvPr/>
        </p:nvSpPr>
        <p:spPr>
          <a:xfrm>
            <a:off x="186980" y="3494708"/>
            <a:ext cx="4821000" cy="646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If the two bits of the multiplier is equal to 1 0, we have to subtract the multiplier from the partial product in the Acc and then perform the ARS operation.</a:t>
            </a:r>
            <a:endParaRPr b="0" i="0" u="none" cap="none" strike="noStrike">
              <a:solidFill>
                <a:srgbClr val="000000"/>
              </a:solidFill>
              <a:latin typeface="Roboto"/>
              <a:ea typeface="Roboto"/>
              <a:cs typeface="Roboto"/>
              <a:sym typeface="Roboto"/>
            </a:endParaRPr>
          </a:p>
        </p:txBody>
      </p:sp>
      <p:sp>
        <p:nvSpPr>
          <p:cNvPr id="155" name="Google Shape;155;p5"/>
          <p:cNvSpPr/>
          <p:nvPr/>
        </p:nvSpPr>
        <p:spPr>
          <a:xfrm>
            <a:off x="189332" y="4140904"/>
            <a:ext cx="4821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If the two bits of the multiplier is equal to 0 0 or 1 1, we has to perform ASR operations.</a:t>
            </a:r>
            <a:endParaRPr b="0" i="0" u="none" cap="none" strike="noStrike">
              <a:solidFill>
                <a:srgbClr val="000000"/>
              </a:solidFill>
              <a:latin typeface="Roboto"/>
              <a:ea typeface="Roboto"/>
              <a:cs typeface="Roboto"/>
              <a:sym typeface="Roboto"/>
            </a:endParaRPr>
          </a:p>
        </p:txBody>
      </p:sp>
      <p:sp>
        <p:nvSpPr>
          <p:cNvPr id="156" name="Google Shape;156;p5"/>
          <p:cNvSpPr/>
          <p:nvPr/>
        </p:nvSpPr>
        <p:spPr>
          <a:xfrm>
            <a:off x="186984" y="4505498"/>
            <a:ext cx="48210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And the Count is continuously decremented till the computational loop is repeated (i.e. equal to the number of bits ‘n’).</a:t>
            </a:r>
            <a:endParaRPr b="0" i="0" u="none" cap="none" strike="noStrike">
              <a:solidFill>
                <a:srgbClr val="000000"/>
              </a:solidFill>
              <a:latin typeface="Roboto"/>
              <a:ea typeface="Roboto"/>
              <a:cs typeface="Roboto"/>
              <a:sym typeface="Roboto"/>
            </a:endParaRPr>
          </a:p>
        </p:txBody>
      </p:sp>
      <p:sp>
        <p:nvSpPr>
          <p:cNvPr id="157" name="Google Shape;157;p5"/>
          <p:cNvSpPr txBox="1"/>
          <p:nvPr/>
        </p:nvSpPr>
        <p:spPr>
          <a:xfrm>
            <a:off x="224056" y="325975"/>
            <a:ext cx="1999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2000" u="none" cap="none" strike="noStrike">
                <a:solidFill>
                  <a:srgbClr val="8181EF"/>
                </a:solidFill>
                <a:latin typeface="Roboto"/>
                <a:ea typeface="Roboto"/>
                <a:cs typeface="Roboto"/>
                <a:sym typeface="Roboto"/>
              </a:rPr>
              <a:t>Flow chart</a:t>
            </a:r>
            <a:endParaRPr b="1" i="0" sz="20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3" name="Google Shape;163;p6"/>
          <p:cNvSpPr/>
          <p:nvPr/>
        </p:nvSpPr>
        <p:spPr>
          <a:xfrm>
            <a:off x="435546" y="683725"/>
            <a:ext cx="4136400" cy="33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8181EF"/>
                </a:solidFill>
                <a:latin typeface="Roboto"/>
                <a:ea typeface="Roboto"/>
                <a:cs typeface="Roboto"/>
                <a:sym typeface="Roboto"/>
              </a:rPr>
              <a:t>Algorithm</a:t>
            </a:r>
            <a:endParaRPr b="1" i="0" sz="2000" u="none" cap="none" strike="noStrike">
              <a:solidFill>
                <a:srgbClr val="8181EF"/>
              </a:solidFill>
              <a:latin typeface="Roboto"/>
              <a:ea typeface="Roboto"/>
              <a:cs typeface="Roboto"/>
              <a:sym typeface="Roboto"/>
            </a:endParaRPr>
          </a:p>
        </p:txBody>
      </p:sp>
      <p:sp>
        <p:nvSpPr>
          <p:cNvPr id="164" name="Google Shape;164;p6"/>
          <p:cNvSpPr/>
          <p:nvPr/>
        </p:nvSpPr>
        <p:spPr>
          <a:xfrm>
            <a:off x="437880" y="1121875"/>
            <a:ext cx="82935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u="none" cap="none" strike="noStrike">
                <a:solidFill>
                  <a:srgbClr val="000000"/>
                </a:solidFill>
                <a:latin typeface="Roboto"/>
                <a:ea typeface="Roboto"/>
                <a:cs typeface="Roboto"/>
                <a:sym typeface="Roboto"/>
              </a:rPr>
              <a:t>Set the Multiplicand and Multiplier binary bits as M and Q, respectively.</a:t>
            </a:r>
            <a:endParaRPr b="0" i="0" u="none" cap="none" strike="noStrike">
              <a:solidFill>
                <a:srgbClr val="000000"/>
              </a:solidFill>
              <a:latin typeface="Roboto"/>
              <a:ea typeface="Roboto"/>
              <a:cs typeface="Roboto"/>
              <a:sym typeface="Roboto"/>
            </a:endParaRPr>
          </a:p>
        </p:txBody>
      </p:sp>
      <p:sp>
        <p:nvSpPr>
          <p:cNvPr id="165" name="Google Shape;165;p6"/>
          <p:cNvSpPr/>
          <p:nvPr/>
        </p:nvSpPr>
        <p:spPr>
          <a:xfrm>
            <a:off x="437866" y="1529431"/>
            <a:ext cx="82935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Initially, we set the Ac and Q-1 registers value to 0.</a:t>
            </a:r>
            <a:endParaRPr b="0" i="0" sz="1400" u="none" cap="none" strike="noStrike">
              <a:solidFill>
                <a:srgbClr val="000000"/>
              </a:solidFill>
              <a:latin typeface="Roboto"/>
              <a:ea typeface="Roboto"/>
              <a:cs typeface="Roboto"/>
              <a:sym typeface="Roboto"/>
            </a:endParaRPr>
          </a:p>
        </p:txBody>
      </p:sp>
      <p:sp>
        <p:nvSpPr>
          <p:cNvPr id="166" name="Google Shape;166;p6"/>
          <p:cNvSpPr/>
          <p:nvPr/>
        </p:nvSpPr>
        <p:spPr>
          <a:xfrm>
            <a:off x="425243" y="1889251"/>
            <a:ext cx="8293500" cy="523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Count represents the number of Multiplier bits (Q), and it is a sequence counter that is continuously decremented till equal to the number of bits (n) or reached to 0.</a:t>
            </a:r>
            <a:endParaRPr b="0" i="0" sz="1400" u="none" cap="none" strike="noStrike">
              <a:solidFill>
                <a:schemeClr val="dk1"/>
              </a:solidFill>
              <a:latin typeface="Roboto"/>
              <a:ea typeface="Roboto"/>
              <a:cs typeface="Roboto"/>
              <a:sym typeface="Roboto"/>
            </a:endParaRPr>
          </a:p>
        </p:txBody>
      </p:sp>
      <p:sp>
        <p:nvSpPr>
          <p:cNvPr id="167" name="Google Shape;167;p6"/>
          <p:cNvSpPr/>
          <p:nvPr/>
        </p:nvSpPr>
        <p:spPr>
          <a:xfrm>
            <a:off x="437871" y="2464482"/>
            <a:ext cx="8293500" cy="307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A Qn represents the last bit of the Q, and the Q-1 shows the incremented bit of Qn by 1.</a:t>
            </a:r>
            <a:endParaRPr b="0" i="0" sz="14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u="none" cap="none" strike="noStrike">
              <a:solidFill>
                <a:srgbClr val="000000"/>
              </a:solidFill>
              <a:latin typeface="Roboto"/>
              <a:ea typeface="Roboto"/>
              <a:cs typeface="Roboto"/>
              <a:sym typeface="Roboto"/>
            </a:endParaRPr>
          </a:p>
        </p:txBody>
      </p:sp>
      <p:sp>
        <p:nvSpPr>
          <p:cNvPr id="173" name="Google Shape;173;p7"/>
          <p:cNvSpPr/>
          <p:nvPr/>
        </p:nvSpPr>
        <p:spPr>
          <a:xfrm>
            <a:off x="437875" y="1142158"/>
            <a:ext cx="8293500" cy="603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u="none" cap="none" strike="noStrike">
                <a:solidFill>
                  <a:srgbClr val="000000"/>
                </a:solidFill>
                <a:latin typeface="Roboto"/>
                <a:ea typeface="Roboto"/>
                <a:cs typeface="Roboto"/>
                <a:sym typeface="Roboto"/>
              </a:rPr>
              <a:t>On each cycle of the booth algorithm, Qn and Q-1 bits will be checked on the following parameters as follows:</a:t>
            </a:r>
            <a:endParaRPr b="0" i="0" u="none" cap="none" strike="noStrike">
              <a:solidFill>
                <a:srgbClr val="000000"/>
              </a:solidFill>
              <a:latin typeface="Roboto"/>
              <a:ea typeface="Roboto"/>
              <a:cs typeface="Roboto"/>
              <a:sym typeface="Roboto"/>
            </a:endParaRPr>
          </a:p>
        </p:txBody>
      </p:sp>
      <p:sp>
        <p:nvSpPr>
          <p:cNvPr id="174" name="Google Shape;174;p7"/>
          <p:cNvSpPr/>
          <p:nvPr/>
        </p:nvSpPr>
        <p:spPr>
          <a:xfrm>
            <a:off x="759100" y="1730046"/>
            <a:ext cx="7944000" cy="2337600"/>
          </a:xfrm>
          <a:prstGeom prst="rect">
            <a:avLst/>
          </a:prstGeom>
          <a:noFill/>
          <a:ln>
            <a:noFill/>
          </a:ln>
        </p:spPr>
        <p:txBody>
          <a:bodyPr anchorCtr="0" anchor="t" bIns="45700" lIns="91425" spcFirstLastPara="1" rIns="91425" wrap="square" tIns="45700">
            <a:spAutoFit/>
          </a:bodyPr>
          <a:lstStyle/>
          <a:p>
            <a:pPr indent="-317500" lvl="0" marL="342900" marR="0" rtl="0" algn="just">
              <a:lnSpc>
                <a:spcPct val="100000"/>
              </a:lnSpc>
              <a:spcBef>
                <a:spcPts val="0"/>
              </a:spcBef>
              <a:spcAft>
                <a:spcPts val="0"/>
              </a:spcAft>
              <a:buClr>
                <a:srgbClr val="000000"/>
              </a:buClr>
              <a:buSzPts val="1400"/>
              <a:buFont typeface="Arial"/>
              <a:buChar char="•"/>
            </a:pPr>
            <a:r>
              <a:rPr b="0" i="0" lang="en-US" u="none" cap="none" strike="noStrike">
                <a:solidFill>
                  <a:srgbClr val="000000"/>
                </a:solidFill>
                <a:latin typeface="Roboto"/>
                <a:ea typeface="Roboto"/>
                <a:cs typeface="Roboto"/>
                <a:sym typeface="Roboto"/>
              </a:rPr>
              <a:t>When two bits Qn and Q-1 are 0 0 or 1 1, we simply perform the Arithmetic Right Shift (ARS) operation to the partial product Acc. And the bits of Qn and Q-1 is incremented by 1 bit.</a:t>
            </a:r>
            <a:endParaRPr b="0" i="0" u="none" cap="none" strike="noStrike">
              <a:solidFill>
                <a:srgbClr val="000000"/>
              </a:solidFill>
              <a:latin typeface="Roboto"/>
              <a:ea typeface="Roboto"/>
              <a:cs typeface="Roboto"/>
              <a:sym typeface="Roboto"/>
            </a:endParaRPr>
          </a:p>
        </p:txBody>
      </p:sp>
      <p:sp>
        <p:nvSpPr>
          <p:cNvPr id="175" name="Google Shape;175;p7"/>
          <p:cNvSpPr/>
          <p:nvPr/>
        </p:nvSpPr>
        <p:spPr>
          <a:xfrm>
            <a:off x="784875" y="2448783"/>
            <a:ext cx="7944000" cy="603600"/>
          </a:xfrm>
          <a:prstGeom prst="rect">
            <a:avLst/>
          </a:prstGeom>
          <a:noFill/>
          <a:ln>
            <a:noFill/>
          </a:ln>
        </p:spPr>
        <p:txBody>
          <a:bodyPr anchorCtr="0" anchor="t" bIns="45700" lIns="91425" spcFirstLastPara="1" rIns="91425" wrap="square" tIns="45700">
            <a:spAutoFit/>
          </a:bodyPr>
          <a:lstStyle/>
          <a:p>
            <a:pPr indent="-317500" lvl="0" marL="342900" marR="0" rtl="0" algn="just">
              <a:lnSpc>
                <a:spcPct val="100000"/>
              </a:lnSpc>
              <a:spcBef>
                <a:spcPts val="0"/>
              </a:spcBef>
              <a:spcAft>
                <a:spcPts val="0"/>
              </a:spcAft>
              <a:buClr>
                <a:srgbClr val="000000"/>
              </a:buClr>
              <a:buSzPts val="1400"/>
              <a:buFont typeface="Arial"/>
              <a:buChar char="•"/>
            </a:pPr>
            <a:r>
              <a:rPr b="0" i="0" lang="en-US" u="none" cap="none" strike="noStrike">
                <a:solidFill>
                  <a:srgbClr val="000000"/>
                </a:solidFill>
                <a:latin typeface="Roboto"/>
                <a:ea typeface="Roboto"/>
                <a:cs typeface="Roboto"/>
                <a:sym typeface="Roboto"/>
              </a:rPr>
              <a:t>If the bits of Qn and Q-1 is shows to 0 1, the multiplicand bits (M) will be added to the Acc (Accumulator register). After that, we perform the ARS operation to the AC and Q bits, by 1.</a:t>
            </a:r>
            <a:endParaRPr b="0" i="0" u="none" cap="none" strike="noStrike">
              <a:solidFill>
                <a:srgbClr val="000000"/>
              </a:solidFill>
              <a:latin typeface="Roboto"/>
              <a:ea typeface="Roboto"/>
              <a:cs typeface="Roboto"/>
              <a:sym typeface="Roboto"/>
            </a:endParaRPr>
          </a:p>
        </p:txBody>
      </p:sp>
      <p:sp>
        <p:nvSpPr>
          <p:cNvPr id="176" name="Google Shape;176;p7"/>
          <p:cNvSpPr/>
          <p:nvPr/>
        </p:nvSpPr>
        <p:spPr>
          <a:xfrm>
            <a:off x="759100" y="3231857"/>
            <a:ext cx="7944000" cy="650100"/>
          </a:xfrm>
          <a:prstGeom prst="rect">
            <a:avLst/>
          </a:prstGeom>
          <a:noFill/>
          <a:ln>
            <a:noFill/>
          </a:ln>
        </p:spPr>
        <p:txBody>
          <a:bodyPr anchorCtr="0" anchor="t" bIns="45700" lIns="91425" spcFirstLastPara="1" rIns="91425" wrap="square" tIns="45700">
            <a:spAutoFit/>
          </a:bodyPr>
          <a:lstStyle/>
          <a:p>
            <a:pPr indent="-317500" lvl="0" marL="342900" marR="0" rtl="0" algn="just">
              <a:lnSpc>
                <a:spcPct val="100000"/>
              </a:lnSpc>
              <a:spcBef>
                <a:spcPts val="0"/>
              </a:spcBef>
              <a:spcAft>
                <a:spcPts val="0"/>
              </a:spcAft>
              <a:buClr>
                <a:srgbClr val="000000"/>
              </a:buClr>
              <a:buSzPts val="1400"/>
              <a:buFont typeface="Arial"/>
              <a:buChar char="•"/>
            </a:pPr>
            <a:r>
              <a:rPr b="0" i="0" lang="en-US" u="none" cap="none" strike="noStrike">
                <a:solidFill>
                  <a:srgbClr val="000000"/>
                </a:solidFill>
                <a:latin typeface="Roboto"/>
                <a:ea typeface="Roboto"/>
                <a:cs typeface="Roboto"/>
                <a:sym typeface="Roboto"/>
              </a:rPr>
              <a:t>If the bits of Qn and Q-1 is shows to 1 0, the multiplicand bits (M) will be subtracted from the Acc. After that, we perform the right shift operation to the Acc and Q bits by 1.</a:t>
            </a:r>
            <a:endParaRPr b="0" i="0" u="none" cap="none" strike="noStrike">
              <a:solidFill>
                <a:srgbClr val="000000"/>
              </a:solidFill>
              <a:latin typeface="Roboto"/>
              <a:ea typeface="Roboto"/>
              <a:cs typeface="Roboto"/>
              <a:sym typeface="Roboto"/>
            </a:endParaRPr>
          </a:p>
        </p:txBody>
      </p:sp>
      <p:sp>
        <p:nvSpPr>
          <p:cNvPr id="177" name="Google Shape;177;p7"/>
          <p:cNvSpPr/>
          <p:nvPr/>
        </p:nvSpPr>
        <p:spPr>
          <a:xfrm>
            <a:off x="435542" y="683718"/>
            <a:ext cx="8293500" cy="33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u="none" cap="none" strike="noStrike">
                <a:solidFill>
                  <a:srgbClr val="8181EF"/>
                </a:solidFill>
                <a:latin typeface="Roboto"/>
                <a:ea typeface="Roboto"/>
                <a:cs typeface="Roboto"/>
                <a:sym typeface="Roboto"/>
              </a:rPr>
              <a:t>Algorithm</a:t>
            </a:r>
            <a:endParaRPr b="1" i="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8"/>
          <p:cNvSpPr/>
          <p:nvPr/>
        </p:nvSpPr>
        <p:spPr>
          <a:xfrm>
            <a:off x="598470" y="1262590"/>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83" name="Google Shape;183;p8"/>
          <p:cNvSpPr/>
          <p:nvPr/>
        </p:nvSpPr>
        <p:spPr>
          <a:xfrm>
            <a:off x="437875" y="1778834"/>
            <a:ext cx="8293500" cy="1161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n-US" u="none" cap="none" strike="noStrike">
                <a:solidFill>
                  <a:srgbClr val="000000"/>
                </a:solidFill>
                <a:latin typeface="Roboto"/>
                <a:ea typeface="Roboto"/>
                <a:cs typeface="Roboto"/>
                <a:sym typeface="Roboto"/>
              </a:rPr>
              <a:t>The operation continuously works till we reached n - 1 bit in the booth algorithm.</a:t>
            </a:r>
            <a:endParaRPr b="0" i="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600"/>
              <a:buFont typeface="Arial"/>
              <a:buNone/>
            </a:pPr>
            <a:r>
              <a:t/>
            </a:r>
            <a:endParaRPr b="0" i="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chemeClr val="dk1"/>
              </a:buClr>
              <a:buSzPts val="1600"/>
              <a:buFont typeface="Arial"/>
              <a:buNone/>
            </a:pPr>
            <a:r>
              <a:rPr b="0" i="0" lang="en-US" u="none" cap="none" strike="noStrike">
                <a:solidFill>
                  <a:schemeClr val="dk1"/>
                </a:solidFill>
                <a:latin typeface="Roboto"/>
                <a:ea typeface="Roboto"/>
                <a:cs typeface="Roboto"/>
                <a:sym typeface="Roboto"/>
              </a:rPr>
              <a:t>Results of the Multiplication binary bits will be stored in the Acc and Q registers.</a:t>
            </a:r>
            <a:endParaRPr b="0" i="0" u="none" cap="none" strike="noStrike">
              <a:solidFill>
                <a:srgbClr val="000000"/>
              </a:solidFill>
              <a:latin typeface="Roboto"/>
              <a:ea typeface="Roboto"/>
              <a:cs typeface="Roboto"/>
              <a:sym typeface="Roboto"/>
            </a:endParaRPr>
          </a:p>
        </p:txBody>
      </p:sp>
      <p:sp>
        <p:nvSpPr>
          <p:cNvPr id="184" name="Google Shape;184;p8"/>
          <p:cNvSpPr/>
          <p:nvPr/>
        </p:nvSpPr>
        <p:spPr>
          <a:xfrm>
            <a:off x="428500" y="2500725"/>
            <a:ext cx="8293500" cy="581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sp>
        <p:nvSpPr>
          <p:cNvPr id="185" name="Google Shape;185;p8"/>
          <p:cNvSpPr/>
          <p:nvPr/>
        </p:nvSpPr>
        <p:spPr>
          <a:xfrm>
            <a:off x="435542" y="683718"/>
            <a:ext cx="8293500" cy="33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600" u="none" cap="none" strike="noStrike">
                <a:solidFill>
                  <a:srgbClr val="8181EF"/>
                </a:solidFill>
                <a:latin typeface="Roboto"/>
                <a:ea typeface="Roboto"/>
                <a:cs typeface="Roboto"/>
                <a:sym typeface="Roboto"/>
              </a:rPr>
              <a:t>Algorithm</a:t>
            </a:r>
            <a:endParaRPr b="1" i="0" sz="18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p:nvPr/>
        </p:nvSpPr>
        <p:spPr>
          <a:xfrm>
            <a:off x="306582" y="547724"/>
            <a:ext cx="2359243"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Multiplicand (M):</a:t>
            </a:r>
            <a:endParaRPr b="0" i="0" u="none" cap="none" strike="noStrike">
              <a:solidFill>
                <a:srgbClr val="000000"/>
              </a:solidFill>
              <a:latin typeface="Roboto"/>
              <a:ea typeface="Roboto"/>
              <a:cs typeface="Roboto"/>
              <a:sym typeface="Roboto"/>
            </a:endParaRPr>
          </a:p>
        </p:txBody>
      </p:sp>
      <p:sp>
        <p:nvSpPr>
          <p:cNvPr id="191" name="Google Shape;191;p9"/>
          <p:cNvSpPr/>
          <p:nvPr/>
        </p:nvSpPr>
        <p:spPr>
          <a:xfrm>
            <a:off x="2588481" y="63303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192" name="Google Shape;192;p9"/>
          <p:cNvSpPr/>
          <p:nvPr/>
        </p:nvSpPr>
        <p:spPr>
          <a:xfrm>
            <a:off x="2867493" y="630689"/>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193" name="Google Shape;193;p9"/>
          <p:cNvSpPr/>
          <p:nvPr/>
        </p:nvSpPr>
        <p:spPr>
          <a:xfrm>
            <a:off x="3153539" y="63537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194" name="Google Shape;194;p9"/>
          <p:cNvSpPr/>
          <p:nvPr/>
        </p:nvSpPr>
        <p:spPr>
          <a:xfrm>
            <a:off x="3434899" y="63537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195" name="Google Shape;195;p9"/>
          <p:cNvSpPr/>
          <p:nvPr/>
        </p:nvSpPr>
        <p:spPr>
          <a:xfrm>
            <a:off x="3713911" y="63302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196" name="Google Shape;196;p9"/>
          <p:cNvSpPr/>
          <p:nvPr/>
        </p:nvSpPr>
        <p:spPr>
          <a:xfrm>
            <a:off x="318302" y="918178"/>
            <a:ext cx="2359243"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Multiplier (Q):</a:t>
            </a:r>
            <a:endParaRPr b="0" i="0" u="none" cap="none" strike="noStrike">
              <a:solidFill>
                <a:srgbClr val="000000"/>
              </a:solidFill>
              <a:latin typeface="Roboto"/>
              <a:ea typeface="Roboto"/>
              <a:cs typeface="Roboto"/>
              <a:sym typeface="Roboto"/>
            </a:endParaRPr>
          </a:p>
        </p:txBody>
      </p:sp>
      <p:sp>
        <p:nvSpPr>
          <p:cNvPr id="197" name="Google Shape;197;p9"/>
          <p:cNvSpPr/>
          <p:nvPr/>
        </p:nvSpPr>
        <p:spPr>
          <a:xfrm>
            <a:off x="2600201" y="1003491"/>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198" name="Google Shape;198;p9"/>
          <p:cNvSpPr/>
          <p:nvPr/>
        </p:nvSpPr>
        <p:spPr>
          <a:xfrm>
            <a:off x="2886247" y="100817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199" name="Google Shape;199;p9"/>
          <p:cNvSpPr/>
          <p:nvPr/>
        </p:nvSpPr>
        <p:spPr>
          <a:xfrm>
            <a:off x="3172293" y="1005829"/>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00" name="Google Shape;200;p9"/>
          <p:cNvSpPr/>
          <p:nvPr/>
        </p:nvSpPr>
        <p:spPr>
          <a:xfrm>
            <a:off x="3446619" y="1005829"/>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01" name="Google Shape;201;p9"/>
          <p:cNvSpPr/>
          <p:nvPr/>
        </p:nvSpPr>
        <p:spPr>
          <a:xfrm>
            <a:off x="3725631" y="1003481"/>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02" name="Google Shape;202;p9"/>
          <p:cNvSpPr/>
          <p:nvPr/>
        </p:nvSpPr>
        <p:spPr>
          <a:xfrm>
            <a:off x="5602874" y="867646"/>
            <a:ext cx="2258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u="none" cap="none" strike="noStrike">
                <a:solidFill>
                  <a:srgbClr val="000000"/>
                </a:solidFill>
                <a:latin typeface="Roboto"/>
                <a:ea typeface="Roboto"/>
                <a:cs typeface="Roboto"/>
                <a:sym typeface="Roboto"/>
              </a:rPr>
              <a:t>MxQ : 2</a:t>
            </a:r>
            <a:r>
              <a:rPr b="0" baseline="30000" i="0" lang="en-US" u="none" cap="none" strike="noStrike">
                <a:solidFill>
                  <a:srgbClr val="000000"/>
                </a:solidFill>
                <a:latin typeface="Roboto"/>
                <a:ea typeface="Roboto"/>
                <a:cs typeface="Roboto"/>
                <a:sym typeface="Roboto"/>
              </a:rPr>
              <a:t>j</a:t>
            </a:r>
            <a:r>
              <a:rPr b="0" i="0" lang="en-US" u="none" cap="none" strike="noStrike">
                <a:solidFill>
                  <a:srgbClr val="000000"/>
                </a:solidFill>
                <a:latin typeface="Roboto"/>
                <a:ea typeface="Roboto"/>
                <a:cs typeface="Roboto"/>
                <a:sym typeface="Roboto"/>
              </a:rPr>
              <a:t>(M)+2</a:t>
            </a:r>
            <a:r>
              <a:rPr b="0" baseline="30000" i="0" lang="en-US" u="none" cap="none" strike="noStrike">
                <a:solidFill>
                  <a:srgbClr val="000000"/>
                </a:solidFill>
                <a:latin typeface="Roboto"/>
                <a:ea typeface="Roboto"/>
                <a:cs typeface="Roboto"/>
                <a:sym typeface="Roboto"/>
              </a:rPr>
              <a:t>i</a:t>
            </a:r>
            <a:r>
              <a:rPr b="0" i="0" lang="en-US" u="none" cap="none" strike="noStrike">
                <a:solidFill>
                  <a:srgbClr val="000000"/>
                </a:solidFill>
                <a:latin typeface="Roboto"/>
                <a:ea typeface="Roboto"/>
                <a:cs typeface="Roboto"/>
                <a:sym typeface="Roboto"/>
              </a:rPr>
              <a:t>(Ḿ)</a:t>
            </a:r>
            <a:endParaRPr b="0" i="0" u="none" cap="none" strike="noStrike">
              <a:solidFill>
                <a:srgbClr val="000000"/>
              </a:solidFill>
              <a:latin typeface="Roboto"/>
              <a:ea typeface="Roboto"/>
              <a:cs typeface="Roboto"/>
              <a:sym typeface="Roboto"/>
            </a:endParaRPr>
          </a:p>
        </p:txBody>
      </p:sp>
      <p:sp>
        <p:nvSpPr>
          <p:cNvPr id="203" name="Google Shape;203;p9"/>
          <p:cNvSpPr/>
          <p:nvPr/>
        </p:nvSpPr>
        <p:spPr>
          <a:xfrm>
            <a:off x="4464211" y="630689"/>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04" name="Google Shape;204;p9"/>
          <p:cNvSpPr/>
          <p:nvPr/>
        </p:nvSpPr>
        <p:spPr>
          <a:xfrm>
            <a:off x="4743223" y="63537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05" name="Google Shape;205;p9"/>
          <p:cNvSpPr/>
          <p:nvPr/>
        </p:nvSpPr>
        <p:spPr>
          <a:xfrm>
            <a:off x="5029269" y="63302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06" name="Google Shape;206;p9"/>
          <p:cNvSpPr/>
          <p:nvPr/>
        </p:nvSpPr>
        <p:spPr>
          <a:xfrm>
            <a:off x="5310629" y="63302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07" name="Google Shape;207;p9"/>
          <p:cNvSpPr/>
          <p:nvPr/>
        </p:nvSpPr>
        <p:spPr>
          <a:xfrm>
            <a:off x="5589641" y="630679"/>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cxnSp>
        <p:nvCxnSpPr>
          <p:cNvPr id="208" name="Google Shape;208;p9"/>
          <p:cNvCxnSpPr/>
          <p:nvPr/>
        </p:nvCxnSpPr>
        <p:spPr>
          <a:xfrm flipH="1" rot="10800000">
            <a:off x="4105441" y="736206"/>
            <a:ext cx="302453" cy="7034"/>
          </a:xfrm>
          <a:prstGeom prst="straightConnector1">
            <a:avLst/>
          </a:prstGeom>
          <a:noFill/>
          <a:ln cap="flat" cmpd="sng" w="19050">
            <a:solidFill>
              <a:srgbClr val="0070C0"/>
            </a:solidFill>
            <a:prstDash val="solid"/>
            <a:round/>
            <a:headEnd len="sm" w="sm" type="none"/>
            <a:tailEnd len="med" w="med" type="stealth"/>
          </a:ln>
        </p:spPr>
      </p:cxnSp>
      <p:sp>
        <p:nvSpPr>
          <p:cNvPr id="209" name="Google Shape;209;p9"/>
          <p:cNvSpPr/>
          <p:nvPr/>
        </p:nvSpPr>
        <p:spPr>
          <a:xfrm>
            <a:off x="4138299" y="160606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10" name="Google Shape;210;p9"/>
          <p:cNvSpPr/>
          <p:nvPr/>
        </p:nvSpPr>
        <p:spPr>
          <a:xfrm>
            <a:off x="4417311" y="1610753"/>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11" name="Google Shape;211;p9"/>
          <p:cNvSpPr/>
          <p:nvPr/>
        </p:nvSpPr>
        <p:spPr>
          <a:xfrm>
            <a:off x="4703357" y="160840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12" name="Google Shape;212;p9"/>
          <p:cNvSpPr/>
          <p:nvPr/>
        </p:nvSpPr>
        <p:spPr>
          <a:xfrm>
            <a:off x="4984717" y="160840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13" name="Google Shape;213;p9"/>
          <p:cNvSpPr/>
          <p:nvPr/>
        </p:nvSpPr>
        <p:spPr>
          <a:xfrm>
            <a:off x="5263729" y="160605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14" name="Google Shape;214;p9"/>
          <p:cNvSpPr/>
          <p:nvPr/>
        </p:nvSpPr>
        <p:spPr>
          <a:xfrm>
            <a:off x="4022800" y="1267525"/>
            <a:ext cx="1765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Accumulator (Acc)</a:t>
            </a:r>
            <a:endParaRPr b="0" i="0" u="none" cap="none" strike="noStrike">
              <a:solidFill>
                <a:srgbClr val="000000"/>
              </a:solidFill>
              <a:latin typeface="Roboto"/>
              <a:ea typeface="Roboto"/>
              <a:cs typeface="Roboto"/>
              <a:sym typeface="Roboto"/>
            </a:endParaRPr>
          </a:p>
        </p:txBody>
      </p:sp>
      <p:sp>
        <p:nvSpPr>
          <p:cNvPr id="215" name="Google Shape;215;p9"/>
          <p:cNvSpPr/>
          <p:nvPr/>
        </p:nvSpPr>
        <p:spPr>
          <a:xfrm>
            <a:off x="4142201" y="18326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16" name="Google Shape;216;p9"/>
          <p:cNvSpPr/>
          <p:nvPr/>
        </p:nvSpPr>
        <p:spPr>
          <a:xfrm>
            <a:off x="4428247" y="18373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17" name="Google Shape;217;p9"/>
          <p:cNvSpPr/>
          <p:nvPr/>
        </p:nvSpPr>
        <p:spPr>
          <a:xfrm>
            <a:off x="4714293" y="18350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18" name="Google Shape;218;p9"/>
          <p:cNvSpPr/>
          <p:nvPr/>
        </p:nvSpPr>
        <p:spPr>
          <a:xfrm>
            <a:off x="4988619" y="18350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19" name="Google Shape;219;p9"/>
          <p:cNvSpPr/>
          <p:nvPr/>
        </p:nvSpPr>
        <p:spPr>
          <a:xfrm>
            <a:off x="5267631" y="18326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20" name="Google Shape;220;p9"/>
          <p:cNvSpPr/>
          <p:nvPr/>
        </p:nvSpPr>
        <p:spPr>
          <a:xfrm>
            <a:off x="5759499" y="160006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21" name="Google Shape;221;p9"/>
          <p:cNvSpPr/>
          <p:nvPr/>
        </p:nvSpPr>
        <p:spPr>
          <a:xfrm>
            <a:off x="6038511" y="1604753"/>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22" name="Google Shape;222;p9"/>
          <p:cNvSpPr/>
          <p:nvPr/>
        </p:nvSpPr>
        <p:spPr>
          <a:xfrm>
            <a:off x="6324557" y="160240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23" name="Google Shape;223;p9"/>
          <p:cNvSpPr/>
          <p:nvPr/>
        </p:nvSpPr>
        <p:spPr>
          <a:xfrm>
            <a:off x="6605917" y="1602405"/>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24" name="Google Shape;224;p9"/>
          <p:cNvSpPr/>
          <p:nvPr/>
        </p:nvSpPr>
        <p:spPr>
          <a:xfrm>
            <a:off x="6884929" y="160005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25" name="Google Shape;225;p9"/>
          <p:cNvSpPr/>
          <p:nvPr/>
        </p:nvSpPr>
        <p:spPr>
          <a:xfrm>
            <a:off x="5787995" y="1261529"/>
            <a:ext cx="1376005"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Multiplier (Q)</a:t>
            </a:r>
            <a:endParaRPr b="0" i="0" u="none" cap="none" strike="noStrike">
              <a:solidFill>
                <a:srgbClr val="000000"/>
              </a:solidFill>
              <a:latin typeface="Roboto"/>
              <a:ea typeface="Roboto"/>
              <a:cs typeface="Roboto"/>
              <a:sym typeface="Roboto"/>
            </a:endParaRPr>
          </a:p>
        </p:txBody>
      </p:sp>
      <p:sp>
        <p:nvSpPr>
          <p:cNvPr id="226" name="Google Shape;226;p9"/>
          <p:cNvSpPr/>
          <p:nvPr/>
        </p:nvSpPr>
        <p:spPr>
          <a:xfrm>
            <a:off x="5763401" y="18266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27" name="Google Shape;227;p9"/>
          <p:cNvSpPr/>
          <p:nvPr/>
        </p:nvSpPr>
        <p:spPr>
          <a:xfrm>
            <a:off x="6049447" y="18313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28" name="Google Shape;228;p9"/>
          <p:cNvSpPr/>
          <p:nvPr/>
        </p:nvSpPr>
        <p:spPr>
          <a:xfrm>
            <a:off x="6335493" y="18290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29" name="Google Shape;229;p9"/>
          <p:cNvSpPr/>
          <p:nvPr/>
        </p:nvSpPr>
        <p:spPr>
          <a:xfrm>
            <a:off x="6609819" y="18290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30" name="Google Shape;230;p9"/>
          <p:cNvSpPr/>
          <p:nvPr/>
        </p:nvSpPr>
        <p:spPr>
          <a:xfrm>
            <a:off x="6888831" y="18266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31" name="Google Shape;231;p9"/>
          <p:cNvSpPr/>
          <p:nvPr/>
        </p:nvSpPr>
        <p:spPr>
          <a:xfrm>
            <a:off x="7481499" y="1608467"/>
            <a:ext cx="267269" cy="20398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32" name="Google Shape;232;p9"/>
          <p:cNvSpPr/>
          <p:nvPr/>
        </p:nvSpPr>
        <p:spPr>
          <a:xfrm>
            <a:off x="7401995" y="1269929"/>
            <a:ext cx="424405"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Q</a:t>
            </a:r>
            <a:r>
              <a:rPr b="0" baseline="-25000" i="0" lang="en-US" u="none" cap="none" strike="noStrike">
                <a:solidFill>
                  <a:srgbClr val="000000"/>
                </a:solidFill>
                <a:latin typeface="Roboto"/>
                <a:ea typeface="Roboto"/>
                <a:cs typeface="Roboto"/>
                <a:sym typeface="Roboto"/>
              </a:rPr>
              <a:t>-1</a:t>
            </a:r>
            <a:endParaRPr b="0" baseline="-25000" i="0" u="none" cap="none" strike="noStrike">
              <a:solidFill>
                <a:srgbClr val="000000"/>
              </a:solidFill>
              <a:latin typeface="Roboto"/>
              <a:ea typeface="Roboto"/>
              <a:cs typeface="Roboto"/>
              <a:sym typeface="Roboto"/>
            </a:endParaRPr>
          </a:p>
        </p:txBody>
      </p:sp>
      <p:sp>
        <p:nvSpPr>
          <p:cNvPr id="233" name="Google Shape;233;p9"/>
          <p:cNvSpPr/>
          <p:nvPr/>
        </p:nvSpPr>
        <p:spPr>
          <a:xfrm>
            <a:off x="7471001" y="18278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34" name="Google Shape;234;p9"/>
          <p:cNvSpPr/>
          <p:nvPr/>
        </p:nvSpPr>
        <p:spPr>
          <a:xfrm>
            <a:off x="253595" y="2055929"/>
            <a:ext cx="509605"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Q</a:t>
            </a:r>
            <a:r>
              <a:rPr b="0" baseline="-25000" i="0" lang="en-US" u="none" cap="none" strike="noStrike">
                <a:solidFill>
                  <a:srgbClr val="000000"/>
                </a:solidFill>
                <a:latin typeface="Roboto"/>
                <a:ea typeface="Roboto"/>
                <a:cs typeface="Roboto"/>
                <a:sym typeface="Roboto"/>
              </a:rPr>
              <a:t>LSB</a:t>
            </a:r>
            <a:endParaRPr b="0" baseline="-25000" i="0" u="none" cap="none" strike="noStrike">
              <a:solidFill>
                <a:srgbClr val="000000"/>
              </a:solidFill>
              <a:latin typeface="Roboto"/>
              <a:ea typeface="Roboto"/>
              <a:cs typeface="Roboto"/>
              <a:sym typeface="Roboto"/>
            </a:endParaRPr>
          </a:p>
        </p:txBody>
      </p:sp>
      <p:sp>
        <p:nvSpPr>
          <p:cNvPr id="235" name="Google Shape;235;p9"/>
          <p:cNvSpPr/>
          <p:nvPr/>
        </p:nvSpPr>
        <p:spPr>
          <a:xfrm>
            <a:off x="729995" y="2057129"/>
            <a:ext cx="424405"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Q</a:t>
            </a:r>
            <a:r>
              <a:rPr b="0" baseline="-25000" i="0" lang="en-US" u="none" cap="none" strike="noStrike">
                <a:solidFill>
                  <a:srgbClr val="000000"/>
                </a:solidFill>
                <a:latin typeface="Roboto"/>
                <a:ea typeface="Roboto"/>
                <a:cs typeface="Roboto"/>
                <a:sym typeface="Roboto"/>
              </a:rPr>
              <a:t>-1</a:t>
            </a:r>
            <a:endParaRPr b="0" baseline="-25000" i="0" u="none" cap="none" strike="noStrike">
              <a:solidFill>
                <a:srgbClr val="000000"/>
              </a:solidFill>
              <a:latin typeface="Roboto"/>
              <a:ea typeface="Roboto"/>
              <a:cs typeface="Roboto"/>
              <a:sym typeface="Roboto"/>
            </a:endParaRPr>
          </a:p>
        </p:txBody>
      </p:sp>
      <p:sp>
        <p:nvSpPr>
          <p:cNvPr id="236" name="Google Shape;236;p9"/>
          <p:cNvSpPr/>
          <p:nvPr/>
        </p:nvSpPr>
        <p:spPr>
          <a:xfrm>
            <a:off x="1194395" y="2075129"/>
            <a:ext cx="1653518" cy="27695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Operations</a:t>
            </a:r>
            <a:endParaRPr b="0" i="0" u="none" cap="none" strike="noStrike">
              <a:solidFill>
                <a:srgbClr val="000000"/>
              </a:solidFill>
              <a:latin typeface="Roboto"/>
              <a:ea typeface="Roboto"/>
              <a:cs typeface="Roboto"/>
              <a:sym typeface="Roboto"/>
            </a:endParaRPr>
          </a:p>
        </p:txBody>
      </p:sp>
      <p:sp>
        <p:nvSpPr>
          <p:cNvPr id="237" name="Google Shape;237;p9"/>
          <p:cNvSpPr/>
          <p:nvPr/>
        </p:nvSpPr>
        <p:spPr>
          <a:xfrm>
            <a:off x="301001" y="24266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38" name="Google Shape;238;p9"/>
          <p:cNvSpPr/>
          <p:nvPr/>
        </p:nvSpPr>
        <p:spPr>
          <a:xfrm>
            <a:off x="784601" y="24206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39" name="Google Shape;239;p9"/>
          <p:cNvSpPr/>
          <p:nvPr/>
        </p:nvSpPr>
        <p:spPr>
          <a:xfrm>
            <a:off x="1080394" y="2342729"/>
            <a:ext cx="2692406"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Arithmetic Right Shift (ARS)</a:t>
            </a:r>
            <a:endParaRPr b="0" i="0" u="none" cap="none" strike="noStrike">
              <a:solidFill>
                <a:srgbClr val="000000"/>
              </a:solidFill>
              <a:latin typeface="Roboto"/>
              <a:ea typeface="Roboto"/>
              <a:cs typeface="Roboto"/>
              <a:sym typeface="Roboto"/>
            </a:endParaRPr>
          </a:p>
        </p:txBody>
      </p:sp>
      <p:sp>
        <p:nvSpPr>
          <p:cNvPr id="240" name="Google Shape;240;p9"/>
          <p:cNvSpPr/>
          <p:nvPr/>
        </p:nvSpPr>
        <p:spPr>
          <a:xfrm>
            <a:off x="301001" y="2766964"/>
            <a:ext cx="267269" cy="31924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41" name="Google Shape;241;p9"/>
          <p:cNvSpPr/>
          <p:nvPr/>
        </p:nvSpPr>
        <p:spPr>
          <a:xfrm>
            <a:off x="778601" y="28178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42" name="Google Shape;242;p9"/>
          <p:cNvSpPr/>
          <p:nvPr/>
        </p:nvSpPr>
        <p:spPr>
          <a:xfrm>
            <a:off x="289001" y="33146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43" name="Google Shape;243;p9"/>
          <p:cNvSpPr/>
          <p:nvPr/>
        </p:nvSpPr>
        <p:spPr>
          <a:xfrm>
            <a:off x="772601" y="33086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44" name="Google Shape;244;p9"/>
          <p:cNvSpPr/>
          <p:nvPr/>
        </p:nvSpPr>
        <p:spPr>
          <a:xfrm>
            <a:off x="283001" y="38054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45" name="Google Shape;245;p9"/>
          <p:cNvSpPr/>
          <p:nvPr/>
        </p:nvSpPr>
        <p:spPr>
          <a:xfrm>
            <a:off x="766601" y="37994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46" name="Google Shape;246;p9"/>
          <p:cNvSpPr/>
          <p:nvPr/>
        </p:nvSpPr>
        <p:spPr>
          <a:xfrm>
            <a:off x="1081594" y="3222329"/>
            <a:ext cx="1510406"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Acc &lt;- Acc + Ḿ,</a:t>
            </a:r>
            <a:endParaRPr b="0" i="0" u="none" cap="none" strike="noStrike">
              <a:solidFill>
                <a:srgbClr val="000000"/>
              </a:solidFill>
              <a:latin typeface="Roboto"/>
              <a:ea typeface="Roboto"/>
              <a:cs typeface="Roboto"/>
              <a:sym typeface="Roboto"/>
            </a:endParaRPr>
          </a:p>
        </p:txBody>
      </p:sp>
      <p:sp>
        <p:nvSpPr>
          <p:cNvPr id="247" name="Google Shape;247;p9"/>
          <p:cNvSpPr/>
          <p:nvPr/>
        </p:nvSpPr>
        <p:spPr>
          <a:xfrm>
            <a:off x="2479594" y="3223529"/>
            <a:ext cx="494006"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ARS</a:t>
            </a:r>
            <a:endParaRPr b="0" i="0" sz="1200" u="none" cap="none" strike="noStrike">
              <a:solidFill>
                <a:srgbClr val="000000"/>
              </a:solidFill>
              <a:latin typeface="Roboto"/>
              <a:ea typeface="Roboto"/>
              <a:cs typeface="Roboto"/>
              <a:sym typeface="Roboto"/>
            </a:endParaRPr>
          </a:p>
        </p:txBody>
      </p:sp>
      <p:sp>
        <p:nvSpPr>
          <p:cNvPr id="248" name="Google Shape;248;p9"/>
          <p:cNvSpPr/>
          <p:nvPr/>
        </p:nvSpPr>
        <p:spPr>
          <a:xfrm>
            <a:off x="1088794" y="3733529"/>
            <a:ext cx="2692406"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Arithmetic Right Shift (ARS)</a:t>
            </a:r>
            <a:endParaRPr b="0" i="0" u="none" cap="none" strike="noStrike">
              <a:solidFill>
                <a:srgbClr val="000000"/>
              </a:solidFill>
              <a:latin typeface="Roboto"/>
              <a:ea typeface="Roboto"/>
              <a:cs typeface="Roboto"/>
              <a:sym typeface="Roboto"/>
            </a:endParaRPr>
          </a:p>
        </p:txBody>
      </p:sp>
      <p:sp>
        <p:nvSpPr>
          <p:cNvPr id="249" name="Google Shape;249;p9"/>
          <p:cNvSpPr/>
          <p:nvPr/>
        </p:nvSpPr>
        <p:spPr>
          <a:xfrm>
            <a:off x="1082794" y="2769929"/>
            <a:ext cx="1510406" cy="276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Acc &lt;- Acc + M,</a:t>
            </a:r>
            <a:endParaRPr b="0" i="0" u="none" cap="none" strike="noStrike">
              <a:solidFill>
                <a:srgbClr val="000000"/>
              </a:solidFill>
              <a:latin typeface="Roboto"/>
              <a:ea typeface="Roboto"/>
              <a:cs typeface="Roboto"/>
              <a:sym typeface="Roboto"/>
            </a:endParaRPr>
          </a:p>
        </p:txBody>
      </p:sp>
      <p:sp>
        <p:nvSpPr>
          <p:cNvPr id="250" name="Google Shape;250;p9"/>
          <p:cNvSpPr/>
          <p:nvPr/>
        </p:nvSpPr>
        <p:spPr>
          <a:xfrm>
            <a:off x="2480801" y="2771125"/>
            <a:ext cx="5856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u="none" cap="none" strike="noStrike">
                <a:solidFill>
                  <a:srgbClr val="000000"/>
                </a:solidFill>
                <a:latin typeface="Roboto"/>
                <a:ea typeface="Roboto"/>
                <a:cs typeface="Roboto"/>
                <a:sym typeface="Roboto"/>
              </a:rPr>
              <a:t>ARS</a:t>
            </a:r>
            <a:endParaRPr b="0" i="0" u="none" cap="none" strike="noStrike">
              <a:solidFill>
                <a:srgbClr val="000000"/>
              </a:solidFill>
              <a:latin typeface="Roboto"/>
              <a:ea typeface="Roboto"/>
              <a:cs typeface="Roboto"/>
              <a:sym typeface="Roboto"/>
            </a:endParaRPr>
          </a:p>
        </p:txBody>
      </p:sp>
      <p:sp>
        <p:nvSpPr>
          <p:cNvPr id="251" name="Google Shape;251;p9"/>
          <p:cNvSpPr/>
          <p:nvPr/>
        </p:nvSpPr>
        <p:spPr>
          <a:xfrm>
            <a:off x="4424201" y="20498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52" name="Google Shape;252;p9"/>
          <p:cNvSpPr/>
          <p:nvPr/>
        </p:nvSpPr>
        <p:spPr>
          <a:xfrm>
            <a:off x="4710247" y="20545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53" name="Google Shape;253;p9"/>
          <p:cNvSpPr/>
          <p:nvPr/>
        </p:nvSpPr>
        <p:spPr>
          <a:xfrm>
            <a:off x="4996293" y="20522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54" name="Google Shape;254;p9"/>
          <p:cNvSpPr/>
          <p:nvPr/>
        </p:nvSpPr>
        <p:spPr>
          <a:xfrm>
            <a:off x="5270619" y="20522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55" name="Google Shape;255;p9"/>
          <p:cNvSpPr/>
          <p:nvPr/>
        </p:nvSpPr>
        <p:spPr>
          <a:xfrm>
            <a:off x="5772831" y="20498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56" name="Google Shape;256;p9"/>
          <p:cNvSpPr/>
          <p:nvPr/>
        </p:nvSpPr>
        <p:spPr>
          <a:xfrm>
            <a:off x="6045401" y="20438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57" name="Google Shape;257;p9"/>
          <p:cNvSpPr/>
          <p:nvPr/>
        </p:nvSpPr>
        <p:spPr>
          <a:xfrm>
            <a:off x="6331447" y="20485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58" name="Google Shape;258;p9"/>
          <p:cNvSpPr/>
          <p:nvPr/>
        </p:nvSpPr>
        <p:spPr>
          <a:xfrm>
            <a:off x="6617493" y="20462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59" name="Google Shape;259;p9"/>
          <p:cNvSpPr/>
          <p:nvPr/>
        </p:nvSpPr>
        <p:spPr>
          <a:xfrm>
            <a:off x="6891819" y="20462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60" name="Google Shape;260;p9"/>
          <p:cNvSpPr/>
          <p:nvPr/>
        </p:nvSpPr>
        <p:spPr>
          <a:xfrm>
            <a:off x="7480431" y="20438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61" name="Google Shape;261;p9"/>
          <p:cNvSpPr/>
          <p:nvPr/>
        </p:nvSpPr>
        <p:spPr>
          <a:xfrm>
            <a:off x="4143401" y="20354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62" name="Google Shape;262;p9"/>
          <p:cNvSpPr/>
          <p:nvPr/>
        </p:nvSpPr>
        <p:spPr>
          <a:xfrm>
            <a:off x="5270311" y="23190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63" name="Google Shape;263;p9"/>
          <p:cNvSpPr/>
          <p:nvPr/>
        </p:nvSpPr>
        <p:spPr>
          <a:xfrm>
            <a:off x="4135893" y="23022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64" name="Google Shape;264;p9"/>
          <p:cNvSpPr/>
          <p:nvPr/>
        </p:nvSpPr>
        <p:spPr>
          <a:xfrm>
            <a:off x="4421939" y="23069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65" name="Google Shape;265;p9"/>
          <p:cNvSpPr/>
          <p:nvPr/>
        </p:nvSpPr>
        <p:spPr>
          <a:xfrm>
            <a:off x="4703299" y="23069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66" name="Google Shape;266;p9"/>
          <p:cNvSpPr/>
          <p:nvPr/>
        </p:nvSpPr>
        <p:spPr>
          <a:xfrm>
            <a:off x="4982311" y="23046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cxnSp>
        <p:nvCxnSpPr>
          <p:cNvPr id="267" name="Google Shape;267;p9"/>
          <p:cNvCxnSpPr/>
          <p:nvPr/>
        </p:nvCxnSpPr>
        <p:spPr>
          <a:xfrm flipH="1" rot="10800000">
            <a:off x="3988800" y="2584800"/>
            <a:ext cx="1612800" cy="7200"/>
          </a:xfrm>
          <a:prstGeom prst="straightConnector1">
            <a:avLst/>
          </a:prstGeom>
          <a:noFill/>
          <a:ln cap="flat" cmpd="sng" w="12700">
            <a:solidFill>
              <a:srgbClr val="3B7FF2"/>
            </a:solidFill>
            <a:prstDash val="solid"/>
            <a:round/>
            <a:headEnd len="sm" w="sm" type="none"/>
            <a:tailEnd len="sm" w="sm" type="none"/>
          </a:ln>
        </p:spPr>
      </p:cxnSp>
      <p:sp>
        <p:nvSpPr>
          <p:cNvPr id="268" name="Google Shape;268;p9"/>
          <p:cNvSpPr/>
          <p:nvPr/>
        </p:nvSpPr>
        <p:spPr>
          <a:xfrm>
            <a:off x="5271511" y="26586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69" name="Google Shape;269;p9"/>
          <p:cNvSpPr/>
          <p:nvPr/>
        </p:nvSpPr>
        <p:spPr>
          <a:xfrm>
            <a:off x="4137093" y="26418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70" name="Google Shape;270;p9"/>
          <p:cNvSpPr/>
          <p:nvPr/>
        </p:nvSpPr>
        <p:spPr>
          <a:xfrm>
            <a:off x="4423139" y="26465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71" name="Google Shape;271;p9"/>
          <p:cNvSpPr/>
          <p:nvPr/>
        </p:nvSpPr>
        <p:spPr>
          <a:xfrm>
            <a:off x="4704499" y="26465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72" name="Google Shape;272;p9"/>
          <p:cNvSpPr/>
          <p:nvPr/>
        </p:nvSpPr>
        <p:spPr>
          <a:xfrm>
            <a:off x="4983511" y="26442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73" name="Google Shape;273;p9"/>
          <p:cNvSpPr/>
          <p:nvPr/>
        </p:nvSpPr>
        <p:spPr>
          <a:xfrm>
            <a:off x="5805681" y="2618256"/>
            <a:ext cx="267300" cy="20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74" name="Google Shape;274;p9"/>
          <p:cNvSpPr/>
          <p:nvPr/>
        </p:nvSpPr>
        <p:spPr>
          <a:xfrm>
            <a:off x="6053801" y="26138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75" name="Google Shape;275;p9"/>
          <p:cNvSpPr/>
          <p:nvPr/>
        </p:nvSpPr>
        <p:spPr>
          <a:xfrm>
            <a:off x="6339847" y="26185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76" name="Google Shape;276;p9"/>
          <p:cNvSpPr/>
          <p:nvPr/>
        </p:nvSpPr>
        <p:spPr>
          <a:xfrm>
            <a:off x="6625893" y="26162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77" name="Google Shape;277;p9"/>
          <p:cNvSpPr/>
          <p:nvPr/>
        </p:nvSpPr>
        <p:spPr>
          <a:xfrm>
            <a:off x="6900219" y="26162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78" name="Google Shape;278;p9"/>
          <p:cNvSpPr/>
          <p:nvPr/>
        </p:nvSpPr>
        <p:spPr>
          <a:xfrm>
            <a:off x="7488831" y="26138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79" name="Google Shape;279;p9"/>
          <p:cNvSpPr/>
          <p:nvPr/>
        </p:nvSpPr>
        <p:spPr>
          <a:xfrm>
            <a:off x="5812711" y="28974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80" name="Google Shape;280;p9"/>
          <p:cNvSpPr/>
          <p:nvPr/>
        </p:nvSpPr>
        <p:spPr>
          <a:xfrm>
            <a:off x="4411893" y="29022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81" name="Google Shape;281;p9"/>
          <p:cNvSpPr/>
          <p:nvPr/>
        </p:nvSpPr>
        <p:spPr>
          <a:xfrm>
            <a:off x="4697939" y="29069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82" name="Google Shape;282;p9"/>
          <p:cNvSpPr/>
          <p:nvPr/>
        </p:nvSpPr>
        <p:spPr>
          <a:xfrm>
            <a:off x="4979299" y="29069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83" name="Google Shape;283;p9"/>
          <p:cNvSpPr/>
          <p:nvPr/>
        </p:nvSpPr>
        <p:spPr>
          <a:xfrm>
            <a:off x="5258311" y="29046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84" name="Google Shape;284;p9"/>
          <p:cNvSpPr/>
          <p:nvPr/>
        </p:nvSpPr>
        <p:spPr>
          <a:xfrm>
            <a:off x="6056031" y="28802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85" name="Google Shape;285;p9"/>
          <p:cNvSpPr/>
          <p:nvPr/>
        </p:nvSpPr>
        <p:spPr>
          <a:xfrm>
            <a:off x="6328601" y="28742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86" name="Google Shape;286;p9"/>
          <p:cNvSpPr/>
          <p:nvPr/>
        </p:nvSpPr>
        <p:spPr>
          <a:xfrm>
            <a:off x="6614647" y="28789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87" name="Google Shape;287;p9"/>
          <p:cNvSpPr/>
          <p:nvPr/>
        </p:nvSpPr>
        <p:spPr>
          <a:xfrm>
            <a:off x="6900693" y="28766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88" name="Google Shape;288;p9"/>
          <p:cNvSpPr/>
          <p:nvPr/>
        </p:nvSpPr>
        <p:spPr>
          <a:xfrm>
            <a:off x="7472769" y="2886254"/>
            <a:ext cx="267300" cy="20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89" name="Google Shape;289;p9"/>
          <p:cNvSpPr/>
          <p:nvPr/>
        </p:nvSpPr>
        <p:spPr>
          <a:xfrm>
            <a:off x="4138293" y="28950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90" name="Google Shape;290;p9"/>
          <p:cNvSpPr/>
          <p:nvPr/>
        </p:nvSpPr>
        <p:spPr>
          <a:xfrm>
            <a:off x="6087511" y="31794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91" name="Google Shape;291;p9"/>
          <p:cNvSpPr/>
          <p:nvPr/>
        </p:nvSpPr>
        <p:spPr>
          <a:xfrm>
            <a:off x="4686693" y="31842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92" name="Google Shape;292;p9"/>
          <p:cNvSpPr/>
          <p:nvPr/>
        </p:nvSpPr>
        <p:spPr>
          <a:xfrm>
            <a:off x="4972739" y="31889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93" name="Google Shape;293;p9"/>
          <p:cNvSpPr/>
          <p:nvPr/>
        </p:nvSpPr>
        <p:spPr>
          <a:xfrm>
            <a:off x="5254099" y="31889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94" name="Google Shape;294;p9"/>
          <p:cNvSpPr/>
          <p:nvPr/>
        </p:nvSpPr>
        <p:spPr>
          <a:xfrm>
            <a:off x="5828311" y="31866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95" name="Google Shape;295;p9"/>
          <p:cNvSpPr/>
          <p:nvPr/>
        </p:nvSpPr>
        <p:spPr>
          <a:xfrm>
            <a:off x="6330831" y="31622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96" name="Google Shape;296;p9"/>
          <p:cNvSpPr/>
          <p:nvPr/>
        </p:nvSpPr>
        <p:spPr>
          <a:xfrm>
            <a:off x="6603401" y="31562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297" name="Google Shape;297;p9"/>
          <p:cNvSpPr/>
          <p:nvPr/>
        </p:nvSpPr>
        <p:spPr>
          <a:xfrm>
            <a:off x="6889447" y="31609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98" name="Google Shape;298;p9"/>
          <p:cNvSpPr/>
          <p:nvPr/>
        </p:nvSpPr>
        <p:spPr>
          <a:xfrm>
            <a:off x="7492293" y="315862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299" name="Google Shape;299;p9"/>
          <p:cNvSpPr/>
          <p:nvPr/>
        </p:nvSpPr>
        <p:spPr>
          <a:xfrm>
            <a:off x="4413093" y="31770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00" name="Google Shape;300;p9"/>
          <p:cNvSpPr/>
          <p:nvPr/>
        </p:nvSpPr>
        <p:spPr>
          <a:xfrm>
            <a:off x="4132733" y="31770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01" name="Google Shape;301;p9"/>
          <p:cNvSpPr/>
          <p:nvPr/>
        </p:nvSpPr>
        <p:spPr>
          <a:xfrm>
            <a:off x="6355111" y="34326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02" name="Google Shape;302;p9"/>
          <p:cNvSpPr/>
          <p:nvPr/>
        </p:nvSpPr>
        <p:spPr>
          <a:xfrm>
            <a:off x="4954293" y="341654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03" name="Google Shape;303;p9"/>
          <p:cNvSpPr/>
          <p:nvPr/>
        </p:nvSpPr>
        <p:spPr>
          <a:xfrm>
            <a:off x="5240339" y="34421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04" name="Google Shape;304;p9"/>
          <p:cNvSpPr/>
          <p:nvPr/>
        </p:nvSpPr>
        <p:spPr>
          <a:xfrm>
            <a:off x="5831299" y="34421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05" name="Google Shape;305;p9"/>
          <p:cNvSpPr/>
          <p:nvPr/>
        </p:nvSpPr>
        <p:spPr>
          <a:xfrm>
            <a:off x="6095911" y="34398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06" name="Google Shape;306;p9"/>
          <p:cNvSpPr/>
          <p:nvPr/>
        </p:nvSpPr>
        <p:spPr>
          <a:xfrm>
            <a:off x="6598431" y="34370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07" name="Google Shape;307;p9"/>
          <p:cNvSpPr/>
          <p:nvPr/>
        </p:nvSpPr>
        <p:spPr>
          <a:xfrm>
            <a:off x="6871001" y="34382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08" name="Google Shape;308;p9"/>
          <p:cNvSpPr/>
          <p:nvPr/>
        </p:nvSpPr>
        <p:spPr>
          <a:xfrm>
            <a:off x="7488247" y="341417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09" name="Google Shape;309;p9"/>
          <p:cNvSpPr/>
          <p:nvPr/>
        </p:nvSpPr>
        <p:spPr>
          <a:xfrm>
            <a:off x="4680693" y="34302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10" name="Google Shape;310;p9"/>
          <p:cNvSpPr/>
          <p:nvPr/>
        </p:nvSpPr>
        <p:spPr>
          <a:xfrm>
            <a:off x="4414293" y="34302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11" name="Google Shape;311;p9"/>
          <p:cNvSpPr/>
          <p:nvPr/>
        </p:nvSpPr>
        <p:spPr>
          <a:xfrm>
            <a:off x="4141573" y="34230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12" name="Google Shape;312;p9"/>
          <p:cNvSpPr/>
          <p:nvPr/>
        </p:nvSpPr>
        <p:spPr>
          <a:xfrm>
            <a:off x="5276127" y="3678994"/>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13" name="Google Shape;313;p9"/>
          <p:cNvSpPr/>
          <p:nvPr/>
        </p:nvSpPr>
        <p:spPr>
          <a:xfrm>
            <a:off x="4141709" y="3662256"/>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14" name="Google Shape;314;p9"/>
          <p:cNvSpPr/>
          <p:nvPr/>
        </p:nvSpPr>
        <p:spPr>
          <a:xfrm>
            <a:off x="4427755" y="3666942"/>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15" name="Google Shape;315;p9"/>
          <p:cNvSpPr/>
          <p:nvPr/>
        </p:nvSpPr>
        <p:spPr>
          <a:xfrm>
            <a:off x="4709115" y="3666942"/>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16" name="Google Shape;316;p9"/>
          <p:cNvSpPr/>
          <p:nvPr/>
        </p:nvSpPr>
        <p:spPr>
          <a:xfrm>
            <a:off x="4995107" y="3657614"/>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cxnSp>
        <p:nvCxnSpPr>
          <p:cNvPr id="317" name="Google Shape;317;p9"/>
          <p:cNvCxnSpPr/>
          <p:nvPr/>
        </p:nvCxnSpPr>
        <p:spPr>
          <a:xfrm flipH="1" rot="10800000">
            <a:off x="3994616" y="3944767"/>
            <a:ext cx="1612800" cy="7200"/>
          </a:xfrm>
          <a:prstGeom prst="straightConnector1">
            <a:avLst/>
          </a:prstGeom>
          <a:noFill/>
          <a:ln cap="flat" cmpd="sng" w="12700">
            <a:solidFill>
              <a:srgbClr val="3B7FF2"/>
            </a:solidFill>
            <a:prstDash val="solid"/>
            <a:round/>
            <a:headEnd len="sm" w="sm" type="none"/>
            <a:tailEnd len="sm" w="sm" type="none"/>
          </a:ln>
        </p:spPr>
      </p:cxnSp>
      <p:sp>
        <p:nvSpPr>
          <p:cNvPr id="318" name="Google Shape;318;p9"/>
          <p:cNvSpPr/>
          <p:nvPr/>
        </p:nvSpPr>
        <p:spPr>
          <a:xfrm>
            <a:off x="5263371" y="39976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19" name="Google Shape;319;p9"/>
          <p:cNvSpPr/>
          <p:nvPr/>
        </p:nvSpPr>
        <p:spPr>
          <a:xfrm>
            <a:off x="4128953" y="39808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20" name="Google Shape;320;p9"/>
          <p:cNvSpPr/>
          <p:nvPr/>
        </p:nvSpPr>
        <p:spPr>
          <a:xfrm>
            <a:off x="4414999" y="39855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21" name="Google Shape;321;p9"/>
          <p:cNvSpPr/>
          <p:nvPr/>
        </p:nvSpPr>
        <p:spPr>
          <a:xfrm>
            <a:off x="4696359" y="39855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22" name="Google Shape;322;p9"/>
          <p:cNvSpPr/>
          <p:nvPr/>
        </p:nvSpPr>
        <p:spPr>
          <a:xfrm>
            <a:off x="4975371" y="39832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23" name="Google Shape;323;p9"/>
          <p:cNvSpPr/>
          <p:nvPr/>
        </p:nvSpPr>
        <p:spPr>
          <a:xfrm>
            <a:off x="3813693" y="397274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cxnSp>
        <p:nvCxnSpPr>
          <p:cNvPr id="324" name="Google Shape;324;p9"/>
          <p:cNvCxnSpPr/>
          <p:nvPr/>
        </p:nvCxnSpPr>
        <p:spPr>
          <a:xfrm flipH="1" rot="10800000">
            <a:off x="3895730" y="4013588"/>
            <a:ext cx="152758" cy="90780"/>
          </a:xfrm>
          <a:prstGeom prst="straightConnector1">
            <a:avLst/>
          </a:prstGeom>
          <a:noFill/>
          <a:ln cap="flat" cmpd="sng" w="12700">
            <a:solidFill>
              <a:srgbClr val="3B7FF2"/>
            </a:solidFill>
            <a:prstDash val="solid"/>
            <a:round/>
            <a:headEnd len="sm" w="sm" type="none"/>
            <a:tailEnd len="sm" w="sm" type="none"/>
          </a:ln>
        </p:spPr>
      </p:cxnSp>
      <p:sp>
        <p:nvSpPr>
          <p:cNvPr id="325" name="Google Shape;325;p9"/>
          <p:cNvSpPr/>
          <p:nvPr/>
        </p:nvSpPr>
        <p:spPr>
          <a:xfrm>
            <a:off x="6367911" y="394100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26" name="Google Shape;326;p9"/>
          <p:cNvSpPr/>
          <p:nvPr/>
        </p:nvSpPr>
        <p:spPr>
          <a:xfrm>
            <a:off x="5844099" y="395055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27" name="Google Shape;327;p9"/>
          <p:cNvSpPr/>
          <p:nvPr/>
        </p:nvSpPr>
        <p:spPr>
          <a:xfrm>
            <a:off x="6108711" y="394820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28" name="Google Shape;328;p9"/>
          <p:cNvSpPr/>
          <p:nvPr/>
        </p:nvSpPr>
        <p:spPr>
          <a:xfrm>
            <a:off x="6611231" y="393826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29" name="Google Shape;329;p9"/>
          <p:cNvSpPr/>
          <p:nvPr/>
        </p:nvSpPr>
        <p:spPr>
          <a:xfrm>
            <a:off x="6883801" y="395387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30" name="Google Shape;330;p9"/>
          <p:cNvSpPr/>
          <p:nvPr/>
        </p:nvSpPr>
        <p:spPr>
          <a:xfrm>
            <a:off x="7501047" y="393695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31" name="Google Shape;331;p9"/>
          <p:cNvSpPr/>
          <p:nvPr/>
        </p:nvSpPr>
        <p:spPr>
          <a:xfrm>
            <a:off x="5886571" y="426104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32" name="Google Shape;332;p9"/>
          <p:cNvSpPr/>
          <p:nvPr/>
        </p:nvSpPr>
        <p:spPr>
          <a:xfrm>
            <a:off x="4420953" y="426590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33" name="Google Shape;333;p9"/>
          <p:cNvSpPr/>
          <p:nvPr/>
        </p:nvSpPr>
        <p:spPr>
          <a:xfrm>
            <a:off x="4706999" y="427059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34" name="Google Shape;334;p9"/>
          <p:cNvSpPr/>
          <p:nvPr/>
        </p:nvSpPr>
        <p:spPr>
          <a:xfrm>
            <a:off x="4988359" y="427059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35" name="Google Shape;335;p9"/>
          <p:cNvSpPr/>
          <p:nvPr/>
        </p:nvSpPr>
        <p:spPr>
          <a:xfrm>
            <a:off x="5267371" y="426824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36" name="Google Shape;336;p9"/>
          <p:cNvSpPr/>
          <p:nvPr/>
        </p:nvSpPr>
        <p:spPr>
          <a:xfrm>
            <a:off x="6659911" y="425482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37" name="Google Shape;337;p9"/>
          <p:cNvSpPr/>
          <p:nvPr/>
        </p:nvSpPr>
        <p:spPr>
          <a:xfrm>
            <a:off x="6136099" y="4235575"/>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1</a:t>
            </a:r>
            <a:endParaRPr b="0" i="0" u="none" cap="none" strike="noStrike">
              <a:solidFill>
                <a:schemeClr val="dk1"/>
              </a:solidFill>
              <a:latin typeface="Roboto"/>
              <a:ea typeface="Roboto"/>
              <a:cs typeface="Roboto"/>
              <a:sym typeface="Roboto"/>
            </a:endParaRPr>
          </a:p>
        </p:txBody>
      </p:sp>
      <p:sp>
        <p:nvSpPr>
          <p:cNvPr id="338" name="Google Shape;338;p9"/>
          <p:cNvSpPr/>
          <p:nvPr/>
        </p:nvSpPr>
        <p:spPr>
          <a:xfrm>
            <a:off x="6400711" y="4254167"/>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39" name="Google Shape;339;p9"/>
          <p:cNvSpPr/>
          <p:nvPr/>
        </p:nvSpPr>
        <p:spPr>
          <a:xfrm>
            <a:off x="6903231" y="425208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40" name="Google Shape;340;p9"/>
          <p:cNvSpPr/>
          <p:nvPr/>
        </p:nvSpPr>
        <p:spPr>
          <a:xfrm>
            <a:off x="7478201" y="4246091"/>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
        <p:nvSpPr>
          <p:cNvPr id="341" name="Google Shape;341;p9"/>
          <p:cNvSpPr/>
          <p:nvPr/>
        </p:nvSpPr>
        <p:spPr>
          <a:xfrm>
            <a:off x="4137353" y="4277289"/>
            <a:ext cx="267269" cy="2039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u="none" cap="none" strike="noStrike">
                <a:solidFill>
                  <a:schemeClr val="dk1"/>
                </a:solidFill>
                <a:latin typeface="Roboto"/>
                <a:ea typeface="Roboto"/>
                <a:cs typeface="Roboto"/>
                <a:sym typeface="Roboto"/>
              </a:rPr>
              <a:t>0</a:t>
            </a:r>
            <a:endParaRPr b="0" i="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5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47" name="Google Shape;347;p16"/>
          <p:cNvPicPr preferRelativeResize="0"/>
          <p:nvPr/>
        </p:nvPicPr>
        <p:blipFill rotWithShape="1">
          <a:blip r:embed="rId3">
            <a:alphaModFix/>
          </a:blip>
          <a:srcRect b="0" l="0" r="0" t="0"/>
          <a:stretch/>
        </p:blipFill>
        <p:spPr>
          <a:xfrm>
            <a:off x="2654036" y="2367307"/>
            <a:ext cx="3028950" cy="1181100"/>
          </a:xfrm>
          <a:prstGeom prst="rect">
            <a:avLst/>
          </a:prstGeom>
          <a:noFill/>
          <a:ln>
            <a:noFill/>
          </a:ln>
        </p:spPr>
      </p:pic>
      <p:sp>
        <p:nvSpPr>
          <p:cNvPr id="348" name="Google Shape;348;p16"/>
          <p:cNvSpPr/>
          <p:nvPr/>
        </p:nvSpPr>
        <p:spPr>
          <a:xfrm>
            <a:off x="435544" y="565875"/>
            <a:ext cx="8283256"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8181EF"/>
                </a:solidFill>
                <a:latin typeface="Roboto"/>
                <a:ea typeface="Roboto"/>
                <a:cs typeface="Roboto"/>
                <a:sym typeface="Roboto"/>
              </a:rPr>
              <a:t>Methods used in Booth’s algorithm</a:t>
            </a:r>
            <a:endParaRPr b="1" i="0" sz="2000" u="none" cap="none" strike="noStrike">
              <a:solidFill>
                <a:srgbClr val="8181EF"/>
              </a:solidFill>
              <a:latin typeface="Roboto"/>
              <a:ea typeface="Roboto"/>
              <a:cs typeface="Roboto"/>
              <a:sym typeface="Roboto"/>
            </a:endParaRPr>
          </a:p>
        </p:txBody>
      </p:sp>
      <p:sp>
        <p:nvSpPr>
          <p:cNvPr id="349" name="Google Shape;349;p16"/>
          <p:cNvSpPr/>
          <p:nvPr/>
        </p:nvSpPr>
        <p:spPr>
          <a:xfrm>
            <a:off x="430869" y="1076381"/>
            <a:ext cx="82935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RSC (Right Shift Circular)</a:t>
            </a:r>
            <a:endParaRPr b="0" i="0" sz="1400" u="none" cap="none" strike="noStrike">
              <a:solidFill>
                <a:srgbClr val="000000"/>
              </a:solidFill>
              <a:latin typeface="Roboto"/>
              <a:ea typeface="Roboto"/>
              <a:cs typeface="Roboto"/>
              <a:sym typeface="Roboto"/>
            </a:endParaRPr>
          </a:p>
        </p:txBody>
      </p:sp>
      <p:sp>
        <p:nvSpPr>
          <p:cNvPr id="350" name="Google Shape;350;p16"/>
          <p:cNvSpPr/>
          <p:nvPr/>
        </p:nvSpPr>
        <p:spPr>
          <a:xfrm>
            <a:off x="430846" y="1385934"/>
            <a:ext cx="82935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It shifts the right-most bit of the binary number, and then it is added to the beginning of the binary bits.</a:t>
            </a:r>
            <a:endParaRPr b="0" i="0" sz="1400" u="none" cap="none" strike="noStrike">
              <a:solidFill>
                <a:srgbClr val="000000"/>
              </a:solidFill>
              <a:latin typeface="Roboto"/>
              <a:ea typeface="Roboto"/>
              <a:cs typeface="Roboto"/>
              <a:sym typeface="Roboto"/>
            </a:endParaRPr>
          </a:p>
        </p:txBody>
      </p:sp>
      <p:sp>
        <p:nvSpPr>
          <p:cNvPr id="351" name="Google Shape;351;p16"/>
          <p:cNvSpPr/>
          <p:nvPr/>
        </p:nvSpPr>
        <p:spPr>
          <a:xfrm>
            <a:off x="437880" y="1997892"/>
            <a:ext cx="82935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RSA (Right Shift Arithmetic)</a:t>
            </a:r>
            <a:endParaRPr b="0" i="0" sz="1400" u="none" cap="none" strike="noStrike">
              <a:solidFill>
                <a:srgbClr val="000000"/>
              </a:solidFill>
              <a:latin typeface="Roboto"/>
              <a:ea typeface="Roboto"/>
              <a:cs typeface="Roboto"/>
              <a:sym typeface="Roboto"/>
            </a:endParaRPr>
          </a:p>
        </p:txBody>
      </p:sp>
      <p:sp>
        <p:nvSpPr>
          <p:cNvPr id="352" name="Google Shape;352;p16"/>
          <p:cNvSpPr/>
          <p:nvPr/>
        </p:nvSpPr>
        <p:spPr>
          <a:xfrm>
            <a:off x="435544" y="3450916"/>
            <a:ext cx="82935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It adds the two binary bits and then shift the result to the right by 1-bit position.</a:t>
            </a:r>
            <a:endParaRPr b="0" i="0" sz="1400" u="none" cap="none" strike="noStrike">
              <a:solidFill>
                <a:srgbClr val="000000"/>
              </a:solidFill>
              <a:latin typeface="Roboto"/>
              <a:ea typeface="Roboto"/>
              <a:cs typeface="Roboto"/>
              <a:sym typeface="Roboto"/>
            </a:endParaRPr>
          </a:p>
        </p:txBody>
      </p:sp>
      <p:sp>
        <p:nvSpPr>
          <p:cNvPr id="353" name="Google Shape;353;p16"/>
          <p:cNvSpPr/>
          <p:nvPr/>
        </p:nvSpPr>
        <p:spPr>
          <a:xfrm>
            <a:off x="425259" y="4132599"/>
            <a:ext cx="8293500"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000000"/>
                </a:solidFill>
                <a:latin typeface="Roboto"/>
                <a:ea typeface="Roboto"/>
                <a:cs typeface="Roboto"/>
                <a:sym typeface="Roboto"/>
              </a:rPr>
              <a:t>Example: 0100 + 0110 =&gt; 1010, after adding the binary number shift each bit by 1 to the right and put the first bit of resultant to the beginning of the new bit.</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59" name="Google Shape;359;p17"/>
          <p:cNvPicPr preferRelativeResize="0"/>
          <p:nvPr/>
        </p:nvPicPr>
        <p:blipFill rotWithShape="1">
          <a:blip r:embed="rId3">
            <a:alphaModFix/>
          </a:blip>
          <a:srcRect b="0" l="0" r="0" t="0"/>
          <a:stretch/>
        </p:blipFill>
        <p:spPr>
          <a:xfrm>
            <a:off x="1412487" y="857611"/>
            <a:ext cx="6051396" cy="3924838"/>
          </a:xfrm>
          <a:prstGeom prst="rect">
            <a:avLst/>
          </a:prstGeom>
          <a:noFill/>
          <a:ln>
            <a:noFill/>
          </a:ln>
        </p:spPr>
      </p:pic>
      <p:sp>
        <p:nvSpPr>
          <p:cNvPr id="360" name="Google Shape;360;p17"/>
          <p:cNvSpPr/>
          <p:nvPr/>
        </p:nvSpPr>
        <p:spPr>
          <a:xfrm>
            <a:off x="425267" y="452724"/>
            <a:ext cx="8293500" cy="33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8181EF"/>
                </a:solidFill>
                <a:latin typeface="Roboto"/>
                <a:ea typeface="Roboto"/>
                <a:cs typeface="Roboto"/>
                <a:sym typeface="Roboto"/>
              </a:rPr>
              <a:t>Example</a:t>
            </a:r>
            <a:endParaRPr b="1" i="0" sz="2000" u="none" cap="none" strike="noStrike">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0"/>
          <p:cNvSpPr/>
          <p:nvPr/>
        </p:nvSpPr>
        <p:spPr>
          <a:xfrm>
            <a:off x="555182" y="935165"/>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366" name="Google Shape;366;p10"/>
          <p:cNvSpPr/>
          <p:nvPr/>
        </p:nvSpPr>
        <p:spPr>
          <a:xfrm>
            <a:off x="555175" y="935175"/>
            <a:ext cx="7545000" cy="375483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400" u="none" cap="none" strike="noStrike">
                <a:solidFill>
                  <a:srgbClr val="000000"/>
                </a:solidFill>
                <a:latin typeface="Roboto"/>
                <a:ea typeface="Roboto"/>
                <a:cs typeface="Roboto"/>
                <a:sym typeface="Roboto"/>
              </a:rPr>
              <a:t>Program</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sng" cap="none" strike="noStrike">
                <a:solidFill>
                  <a:srgbClr val="000000"/>
                </a:solidFill>
                <a:latin typeface="Roboto"/>
                <a:ea typeface="Roboto"/>
                <a:cs typeface="Roboto"/>
                <a:sym typeface="Roboto"/>
              </a:rPr>
              <a:t>Sample IO</a:t>
            </a:r>
            <a:endParaRPr b="0" i="0" sz="1400" u="sng"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Input</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Enter two integer numbers </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7 -7</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Output</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A : 0111 0000 0</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S : 1001 0000 0</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P : 0000 1001 0</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P : 1100 1100 1</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P : 0001 1110 0</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P : 0000 1111 0</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P : 1100 1111 1</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Result : 7 * -7 = -49</a:t>
            </a:r>
            <a:endParaRPr b="0"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1"/>
          <p:cNvSpPr/>
          <p:nvPr/>
        </p:nvSpPr>
        <p:spPr>
          <a:xfrm>
            <a:off x="555182" y="935165"/>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372" name="Google Shape;372;p21"/>
          <p:cNvSpPr/>
          <p:nvPr/>
        </p:nvSpPr>
        <p:spPr>
          <a:xfrm>
            <a:off x="622388" y="992975"/>
            <a:ext cx="6538800" cy="37548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import java.util.Scanner;</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public class Main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public static Scanner s = new Scanner(System.in);</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 Function to multiply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public int multiply(int n1, int n2)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m = binary(n1);</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m1 = binary(-n1);</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r = binary(n2);</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A = new int[9];</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S = new int[9];</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P = new int[9];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for (int i = 0; i &lt; 4; i++)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A[i] = m[i];</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S[i] = m1[i];</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P[i + 4] = r[i];</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p:txBody>
      </p:sp>
      <p:sp>
        <p:nvSpPr>
          <p:cNvPr id="373" name="Google Shape;373;p21"/>
          <p:cNvSpPr txBox="1"/>
          <p:nvPr/>
        </p:nvSpPr>
        <p:spPr>
          <a:xfrm>
            <a:off x="111784" y="555674"/>
            <a:ext cx="8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2"/>
          <p:cNvSpPr/>
          <p:nvPr/>
        </p:nvSpPr>
        <p:spPr>
          <a:xfrm>
            <a:off x="555182" y="935165"/>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379" name="Google Shape;379;p22"/>
          <p:cNvSpPr/>
          <p:nvPr/>
        </p:nvSpPr>
        <p:spPr>
          <a:xfrm>
            <a:off x="1385667" y="935175"/>
            <a:ext cx="6714507" cy="3323946"/>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display(A, 'A');</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display(S, 'S');</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display(P, 'P');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System.out.println();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for (int i = 0; i &lt; 4; i++)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if (P[7] == 0 &amp;&amp; P[8] == 1)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add(P, A);</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 else if (P[7] == 1 &amp;&amp; P[8] == 0)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add(P, S);</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right Shift(P);</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display(P, 'P');</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  </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return getDecimal(P);</a:t>
            </a:r>
            <a:endParaRPr b="0" i="0" sz="14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p:txBody>
      </p:sp>
      <p:sp>
        <p:nvSpPr>
          <p:cNvPr id="380" name="Google Shape;380;p22"/>
          <p:cNvSpPr txBox="1"/>
          <p:nvPr/>
        </p:nvSpPr>
        <p:spPr>
          <a:xfrm>
            <a:off x="111784" y="555674"/>
            <a:ext cx="88678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Program</a:t>
            </a:r>
            <a:endParaRPr b="1" i="0" sz="1400" u="none" cap="none" strike="noStrike">
              <a:solidFill>
                <a:srgbClr val="000000"/>
              </a:solidFill>
              <a:latin typeface="Roboto"/>
              <a:ea typeface="Roboto"/>
              <a:cs typeface="Roboto"/>
              <a:sym typeface="Roboto"/>
            </a:endParaRPr>
          </a:p>
        </p:txBody>
      </p:sp>
      <p:sp>
        <p:nvSpPr>
          <p:cNvPr id="381" name="Google Shape;381;p22"/>
          <p:cNvSpPr txBox="1"/>
          <p:nvPr/>
        </p:nvSpPr>
        <p:spPr>
          <a:xfrm>
            <a:off x="111784" y="555674"/>
            <a:ext cx="8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4"/>
          <p:cNvSpPr/>
          <p:nvPr/>
        </p:nvSpPr>
        <p:spPr>
          <a:xfrm>
            <a:off x="555182" y="935165"/>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387" name="Google Shape;387;p24"/>
          <p:cNvSpPr/>
          <p:nvPr/>
        </p:nvSpPr>
        <p:spPr>
          <a:xfrm>
            <a:off x="1505243" y="935175"/>
            <a:ext cx="6594932" cy="3970277"/>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Function to get Decimal equivalent of P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public int getDecimal(int[] B)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int p = 0;</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int t = 1;</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for (int i = 7; i &gt;= 0; i--, t *= 2)</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p += (B[i] * t);</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if (B[0] == 1)  // if the result is negative</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p = p - 256;</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return p;</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 Function to right shift array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public void rightShift(int[] A)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for (int i = 8; i &gt; 0; i--)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A[i] = A[i - 1];</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 Sign extend</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A[0] = A[1];</a:t>
            </a:r>
            <a:endParaRPr i="0" sz="14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400" u="none" cap="none" strike="noStrike">
                <a:solidFill>
                  <a:srgbClr val="000000"/>
                </a:solidFill>
                <a:latin typeface="Roboto"/>
                <a:ea typeface="Roboto"/>
                <a:cs typeface="Roboto"/>
                <a:sym typeface="Roboto"/>
              </a:rPr>
              <a:t>    }</a:t>
            </a:r>
            <a:endParaRPr i="0" sz="1400" u="none" cap="none" strike="noStrike">
              <a:solidFill>
                <a:srgbClr val="000000"/>
              </a:solidFill>
              <a:latin typeface="Roboto"/>
              <a:ea typeface="Roboto"/>
              <a:cs typeface="Roboto"/>
              <a:sym typeface="Roboto"/>
            </a:endParaRPr>
          </a:p>
        </p:txBody>
      </p:sp>
      <p:sp>
        <p:nvSpPr>
          <p:cNvPr id="388" name="Google Shape;388;p24"/>
          <p:cNvSpPr txBox="1"/>
          <p:nvPr/>
        </p:nvSpPr>
        <p:spPr>
          <a:xfrm>
            <a:off x="111784" y="555674"/>
            <a:ext cx="88678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Program</a:t>
            </a:r>
            <a:endParaRPr b="1" i="0" sz="1400" u="none" cap="none" strike="noStrike">
              <a:solidFill>
                <a:srgbClr val="000000"/>
              </a:solidFill>
              <a:latin typeface="Roboto"/>
              <a:ea typeface="Roboto"/>
              <a:cs typeface="Roboto"/>
              <a:sym typeface="Roboto"/>
            </a:endParaRPr>
          </a:p>
        </p:txBody>
      </p:sp>
      <p:sp>
        <p:nvSpPr>
          <p:cNvPr id="389" name="Google Shape;389;p24"/>
          <p:cNvSpPr txBox="1"/>
          <p:nvPr/>
        </p:nvSpPr>
        <p:spPr>
          <a:xfrm>
            <a:off x="111784" y="555674"/>
            <a:ext cx="8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5"/>
          <p:cNvSpPr/>
          <p:nvPr/>
        </p:nvSpPr>
        <p:spPr>
          <a:xfrm>
            <a:off x="555182" y="935165"/>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395" name="Google Shape;395;p25"/>
          <p:cNvSpPr/>
          <p:nvPr/>
        </p:nvSpPr>
        <p:spPr>
          <a:xfrm>
            <a:off x="1463040" y="808566"/>
            <a:ext cx="6637200" cy="39858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 Function to add two binary arrays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public void add(int[] A, int[] B)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int carry = 0;</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for (int i = 8; i &gt;= 0; i--)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int temp = A[i] + B[i] + carry;</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A[i] = temp % 2;</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carry = temp / 2;</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 Function to get binary of a number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public int[] binary(int n)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int[] bin = new int[4];</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int ctr = 3;</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int num = n;</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 for negative numbers 2's complement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if (n &lt; 0)</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num = 16 + n;</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while (num != 0)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bin[ctr--] = num % 2;</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num /= 2;</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return bin;</a:t>
            </a:r>
            <a:endParaRPr b="0" i="0" sz="1500" u="none" cap="none" strike="noStrike">
              <a:solidFill>
                <a:srgbClr val="000000"/>
              </a:solidFill>
              <a:latin typeface="Arial"/>
              <a:ea typeface="Arial"/>
              <a:cs typeface="Arial"/>
              <a:sym typeface="Arial"/>
            </a:endParaRPr>
          </a:p>
          <a:p>
            <a:pPr indent="-228600" lvl="0" marL="2286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p:txBody>
      </p:sp>
      <p:sp>
        <p:nvSpPr>
          <p:cNvPr id="396" name="Google Shape;396;p25"/>
          <p:cNvSpPr txBox="1"/>
          <p:nvPr/>
        </p:nvSpPr>
        <p:spPr>
          <a:xfrm>
            <a:off x="111784" y="555674"/>
            <a:ext cx="88678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Program</a:t>
            </a:r>
            <a:endParaRPr b="1" i="0" sz="1400" u="none" cap="none" strike="noStrike">
              <a:solidFill>
                <a:srgbClr val="000000"/>
              </a:solidFill>
              <a:latin typeface="Roboto"/>
              <a:ea typeface="Roboto"/>
              <a:cs typeface="Roboto"/>
              <a:sym typeface="Roboto"/>
            </a:endParaRPr>
          </a:p>
        </p:txBody>
      </p:sp>
      <p:sp>
        <p:nvSpPr>
          <p:cNvPr id="397" name="Google Shape;397;p25"/>
          <p:cNvSpPr txBox="1"/>
          <p:nvPr/>
        </p:nvSpPr>
        <p:spPr>
          <a:xfrm>
            <a:off x="111784" y="555674"/>
            <a:ext cx="8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p:nvPr/>
        </p:nvSpPr>
        <p:spPr>
          <a:xfrm>
            <a:off x="555182" y="935165"/>
            <a:ext cx="7545000" cy="829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403" name="Google Shape;403;p35"/>
          <p:cNvSpPr/>
          <p:nvPr/>
        </p:nvSpPr>
        <p:spPr>
          <a:xfrm>
            <a:off x="1505242" y="783191"/>
            <a:ext cx="6594900" cy="415500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 Function to print array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public void display(int[] P, char ch)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System.out.print("\n" + ch + " :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for (int i = 0; i &lt; P.length; i++)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if (i == 4)</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System.out.print("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if (i == 8)</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System.out.print("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System.out.print(P[i]);</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 Main function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public static void main(String[] args)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Scanner scan = new Scanner(System.in);</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Main b = new Main();</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System.out.println("Enter two integer numbers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int n1 = scan.nextInt();</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int n2 = scan.nextInt();</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int result = b.multiply(n1, n2);</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System.out.println("\n\nResult : " + n1 + " * " + n2 + " = " + result);</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    }</a:t>
            </a:r>
            <a:endParaRPr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rPr i="0" lang="en-US" sz="1200" u="none" cap="none" strike="noStrike">
                <a:solidFill>
                  <a:srgbClr val="000000"/>
                </a:solidFill>
                <a:latin typeface="Roboto"/>
                <a:ea typeface="Roboto"/>
                <a:cs typeface="Roboto"/>
                <a:sym typeface="Roboto"/>
              </a:rPr>
              <a:t>}</a:t>
            </a:r>
            <a:endParaRPr i="0" sz="1200" u="none" cap="none" strike="noStrike">
              <a:solidFill>
                <a:srgbClr val="000000"/>
              </a:solidFill>
              <a:latin typeface="Roboto"/>
              <a:ea typeface="Roboto"/>
              <a:cs typeface="Roboto"/>
              <a:sym typeface="Roboto"/>
            </a:endParaRPr>
          </a:p>
        </p:txBody>
      </p:sp>
      <p:sp>
        <p:nvSpPr>
          <p:cNvPr id="404" name="Google Shape;404;p35"/>
          <p:cNvSpPr txBox="1"/>
          <p:nvPr/>
        </p:nvSpPr>
        <p:spPr>
          <a:xfrm>
            <a:off x="111784" y="555674"/>
            <a:ext cx="88678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Program</a:t>
            </a:r>
            <a:endParaRPr b="1" i="0" sz="1400" u="none" cap="none" strike="noStrike">
              <a:solidFill>
                <a:srgbClr val="000000"/>
              </a:solidFill>
              <a:latin typeface="Roboto"/>
              <a:ea typeface="Roboto"/>
              <a:cs typeface="Roboto"/>
              <a:sym typeface="Roboto"/>
            </a:endParaRPr>
          </a:p>
        </p:txBody>
      </p:sp>
      <p:sp>
        <p:nvSpPr>
          <p:cNvPr id="405" name="Google Shape;405;p35"/>
          <p:cNvSpPr txBox="1"/>
          <p:nvPr/>
        </p:nvSpPr>
        <p:spPr>
          <a:xfrm>
            <a:off x="111784" y="555674"/>
            <a:ext cx="8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2f40505ea05_1_3"/>
          <p:cNvSpPr/>
          <p:nvPr/>
        </p:nvSpPr>
        <p:spPr>
          <a:xfrm>
            <a:off x="555182" y="935165"/>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411" name="Google Shape;411;g2f40505ea05_1_3"/>
          <p:cNvSpPr/>
          <p:nvPr/>
        </p:nvSpPr>
        <p:spPr>
          <a:xfrm>
            <a:off x="1505267" y="745041"/>
            <a:ext cx="6594900" cy="4155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import java.util.*;</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class Main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public static void main(String[] args)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Scanner sc = new Scanner(System.in);</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int multiplicand = sc.nextInt();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int multiplier = sc.nextInt();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int product = 0;</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int multiplicandBits = Integer.toBinaryString(multiplicand).length();</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for (int i = 0; i &lt; multiplicandBits; i++)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int currentBit = (multiplicand &amp; 0b1);</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if (currentBit == 1)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product += multiplier;</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multiplier &lt;&lt;= 1;</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multiplicand &gt;&gt;&gt;= 1;</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System.out.println(product);</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	}</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chemeClr val="dk1"/>
              </a:buClr>
              <a:buSzPts val="1100"/>
              <a:buFont typeface="Arial"/>
              <a:buNone/>
            </a:pPr>
            <a:r>
              <a:rPr b="0" i="0" lang="en-US" sz="1200" u="none" cap="none" strike="noStrike">
                <a:solidFill>
                  <a:srgbClr val="000000"/>
                </a:solidFill>
                <a:latin typeface="Roboto"/>
                <a:ea typeface="Roboto"/>
                <a:cs typeface="Roboto"/>
                <a:sym typeface="Roboto"/>
              </a:rPr>
              <a:t>}</a:t>
            </a:r>
            <a:endParaRPr b="0" i="0" sz="1200" u="none" cap="none" strike="noStrike">
              <a:solidFill>
                <a:srgbClr val="000000"/>
              </a:solidFill>
              <a:latin typeface="Roboto"/>
              <a:ea typeface="Roboto"/>
              <a:cs typeface="Roboto"/>
              <a:sym typeface="Roboto"/>
            </a:endParaRPr>
          </a:p>
          <a:p>
            <a:pPr indent="-228600" lvl="0" marL="2286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412" name="Google Shape;412;g2f40505ea05_1_3"/>
          <p:cNvSpPr txBox="1"/>
          <p:nvPr/>
        </p:nvSpPr>
        <p:spPr>
          <a:xfrm>
            <a:off x="111784" y="437249"/>
            <a:ext cx="88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a:t>
            </a:r>
            <a:endParaRPr b="1" i="0" sz="1400" u="none" cap="none" strike="noStrike">
              <a:solidFill>
                <a:srgbClr val="8181E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f2cb3dbaf7_0_321"/>
          <p:cNvSpPr txBox="1"/>
          <p:nvPr/>
        </p:nvSpPr>
        <p:spPr>
          <a:xfrm>
            <a:off x="272425" y="533150"/>
            <a:ext cx="6764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807FEC"/>
                </a:solidFill>
                <a:latin typeface="Arial"/>
                <a:ea typeface="Arial"/>
                <a:cs typeface="Arial"/>
                <a:sym typeface="Arial"/>
              </a:rPr>
              <a:t>Time and Space Complexity </a:t>
            </a:r>
            <a:endParaRPr b="1" i="0" sz="1800" u="none" cap="none" strike="noStrike">
              <a:solidFill>
                <a:srgbClr val="807FEC"/>
              </a:solidFill>
              <a:latin typeface="Arial"/>
              <a:ea typeface="Arial"/>
              <a:cs typeface="Arial"/>
              <a:sym typeface="Arial"/>
            </a:endParaRPr>
          </a:p>
        </p:txBody>
      </p:sp>
      <p:sp>
        <p:nvSpPr>
          <p:cNvPr id="418" name="Google Shape;418;g3f2cb3dbaf7_0_321"/>
          <p:cNvSpPr txBox="1"/>
          <p:nvPr/>
        </p:nvSpPr>
        <p:spPr>
          <a:xfrm>
            <a:off x="317525" y="1202250"/>
            <a:ext cx="7372800" cy="27390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Char char="❏"/>
            </a:pPr>
            <a:r>
              <a:rPr b="1" i="0" lang="en-US" sz="1600" u="none" cap="none" strike="noStrike">
                <a:solidFill>
                  <a:srgbClr val="000000"/>
                </a:solidFill>
                <a:latin typeface="Roboto"/>
                <a:ea typeface="Roboto"/>
                <a:cs typeface="Roboto"/>
                <a:sym typeface="Roboto"/>
              </a:rPr>
              <a:t>Time complexity </a:t>
            </a:r>
            <a:r>
              <a:rPr b="0" i="0" lang="en-US" sz="1600" u="none" cap="none" strike="noStrike">
                <a:solidFill>
                  <a:srgbClr val="000000"/>
                </a:solidFill>
                <a:latin typeface="Roboto"/>
                <a:ea typeface="Roboto"/>
                <a:cs typeface="Roboto"/>
                <a:sym typeface="Roboto"/>
              </a:rPr>
              <a:t>:  O(log M)</a:t>
            </a:r>
            <a:endParaRPr b="0" i="0" sz="1600" u="none" cap="none" strike="noStrike">
              <a:solidFill>
                <a:srgbClr val="000000"/>
              </a:solidFill>
              <a:latin typeface="Roboto"/>
              <a:ea typeface="Roboto"/>
              <a:cs typeface="Roboto"/>
              <a:sym typeface="Roboto"/>
            </a:endParaRPr>
          </a:p>
          <a:p>
            <a:pPr indent="-330200" lvl="0" marL="457200" marR="0" rtl="0" algn="l">
              <a:lnSpc>
                <a:spcPct val="200000"/>
              </a:lnSpc>
              <a:spcBef>
                <a:spcPts val="0"/>
              </a:spcBef>
              <a:spcAft>
                <a:spcPts val="0"/>
              </a:spcAft>
              <a:buClr>
                <a:srgbClr val="000000"/>
              </a:buClr>
              <a:buSzPts val="1600"/>
              <a:buFont typeface="Roboto"/>
              <a:buChar char="❏"/>
            </a:pPr>
            <a:r>
              <a:rPr b="1" i="0" lang="en-US" sz="1600" u="none" cap="none" strike="noStrike">
                <a:solidFill>
                  <a:srgbClr val="000000"/>
                </a:solidFill>
                <a:latin typeface="Roboto"/>
                <a:ea typeface="Roboto"/>
                <a:cs typeface="Roboto"/>
                <a:sym typeface="Roboto"/>
              </a:rPr>
              <a:t>Space complexity</a:t>
            </a:r>
            <a:r>
              <a:rPr b="0" i="0" lang="en-US" sz="1600" u="none" cap="none" strike="noStrike">
                <a:solidFill>
                  <a:srgbClr val="000000"/>
                </a:solidFill>
                <a:latin typeface="Roboto"/>
                <a:ea typeface="Roboto"/>
                <a:cs typeface="Roboto"/>
                <a:sym typeface="Roboto"/>
              </a:rPr>
              <a:t> :  O(1)</a:t>
            </a:r>
            <a:endParaRPr b="0" i="0" sz="1600" u="none" cap="none" strike="noStrike">
              <a:solidFill>
                <a:srgbClr val="000000"/>
              </a:solidFill>
              <a:latin typeface="Roboto"/>
              <a:ea typeface="Roboto"/>
              <a:cs typeface="Roboto"/>
              <a:sym typeface="Roboto"/>
            </a:endParaRPr>
          </a:p>
          <a:p>
            <a:pPr indent="0" lvl="0" marL="231770" marR="0" rtl="0" algn="l">
              <a:lnSpc>
                <a:spcPct val="100000"/>
              </a:lnSpc>
              <a:spcBef>
                <a:spcPts val="0"/>
              </a:spcBef>
              <a:spcAft>
                <a:spcPts val="0"/>
              </a:spcAft>
              <a:buClr>
                <a:srgbClr val="000000"/>
              </a:buClr>
              <a:buSzPts val="1800"/>
              <a:buFont typeface="Arial"/>
              <a:buNone/>
            </a:pPr>
            <a:r>
              <a:t/>
            </a:r>
            <a:endParaRPr b="0" i="0" sz="1600" u="none" cap="none" strike="noStrike">
              <a:solidFill>
                <a:srgbClr val="000000"/>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f2ce537a21_1_13"/>
          <p:cNvSpPr txBox="1"/>
          <p:nvPr>
            <p:ph type="title"/>
          </p:nvPr>
        </p:nvSpPr>
        <p:spPr>
          <a:xfrm>
            <a:off x="628650" y="388400"/>
            <a:ext cx="5770800" cy="482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US" sz="2000">
                <a:solidFill>
                  <a:srgbClr val="807FEC"/>
                </a:solidFill>
                <a:latin typeface="Roboto"/>
                <a:ea typeface="Roboto"/>
                <a:cs typeface="Roboto"/>
                <a:sym typeface="Roboto"/>
              </a:rPr>
              <a:t>Company Placement Question-Booth’s Algorithm</a:t>
            </a:r>
            <a:endParaRPr b="1" sz="2000">
              <a:solidFill>
                <a:srgbClr val="807FEC"/>
              </a:solidFill>
              <a:latin typeface="Roboto"/>
              <a:ea typeface="Roboto"/>
              <a:cs typeface="Roboto"/>
              <a:sym typeface="Roboto"/>
            </a:endParaRPr>
          </a:p>
        </p:txBody>
      </p:sp>
      <p:sp>
        <p:nvSpPr>
          <p:cNvPr id="424" name="Google Shape;424;g3f2ce537a21_1_13"/>
          <p:cNvSpPr txBox="1"/>
          <p:nvPr>
            <p:ph idx="1" type="body"/>
          </p:nvPr>
        </p:nvSpPr>
        <p:spPr>
          <a:xfrm>
            <a:off x="628651" y="1069519"/>
            <a:ext cx="7886700" cy="32634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rtl="0" algn="l">
              <a:lnSpc>
                <a:spcPct val="90000"/>
              </a:lnSpc>
              <a:spcBef>
                <a:spcPts val="800"/>
              </a:spcBef>
              <a:spcAft>
                <a:spcPts val="0"/>
              </a:spcAft>
              <a:buSzPts val="1400"/>
              <a:buNone/>
            </a:pPr>
            <a:r>
              <a:rPr b="1" lang="en-US" sz="1400">
                <a:solidFill>
                  <a:schemeClr val="dk1"/>
                </a:solidFill>
                <a:latin typeface="Roboto"/>
                <a:ea typeface="Roboto"/>
                <a:cs typeface="Roboto"/>
                <a:sym typeface="Roboto"/>
              </a:rPr>
              <a:t>Problem Statement                                                                                       </a:t>
            </a:r>
            <a:r>
              <a:rPr b="1" lang="en-US" sz="1400">
                <a:solidFill>
                  <a:schemeClr val="dk1"/>
                </a:solidFill>
                <a:latin typeface="Roboto"/>
                <a:ea typeface="Roboto"/>
                <a:cs typeface="Roboto"/>
                <a:sym typeface="Roboto"/>
              </a:rPr>
              <a:t>Asked </a:t>
            </a:r>
            <a:r>
              <a:rPr b="1" lang="en-US" sz="1400">
                <a:solidFill>
                  <a:schemeClr val="dk1"/>
                </a:solidFill>
                <a:latin typeface="Roboto"/>
                <a:ea typeface="Roboto"/>
                <a:cs typeface="Roboto"/>
                <a:sym typeface="Roboto"/>
              </a:rPr>
              <a:t>in Infosys (2022)</a:t>
            </a:r>
            <a:endParaRPr b="1"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During a processor simulation round, candidates were asked to implement</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multiplication of two signed integers using Booth’s Algorithm instead of using</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the built-in multiplication operator.</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Write a Java program to multiply two signed integers using Booth’s Algorithm</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and print the final decimal result.</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b="1" lang="en-US" sz="1400">
                <a:solidFill>
                  <a:schemeClr val="dk1"/>
                </a:solidFill>
                <a:latin typeface="Roboto"/>
                <a:ea typeface="Roboto"/>
                <a:cs typeface="Roboto"/>
                <a:sym typeface="Roboto"/>
              </a:rPr>
              <a:t>Input Format</a:t>
            </a:r>
            <a:endParaRPr b="1"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Two integers:</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Multiplicand (M)</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Multiplier (Q)</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b="1" lang="en-US" sz="1400">
                <a:solidFill>
                  <a:schemeClr val="dk1"/>
                </a:solidFill>
                <a:latin typeface="Roboto"/>
                <a:ea typeface="Roboto"/>
                <a:cs typeface="Roboto"/>
                <a:sym typeface="Roboto"/>
              </a:rPr>
              <a:t>Output Format</a:t>
            </a:r>
            <a:endParaRPr b="1"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rPr lang="en-US" sz="1400">
                <a:solidFill>
                  <a:schemeClr val="dk1"/>
                </a:solidFill>
                <a:latin typeface="Roboto"/>
                <a:ea typeface="Roboto"/>
                <a:cs typeface="Roboto"/>
                <a:sym typeface="Roboto"/>
              </a:rPr>
              <a:t>Print the multiplication result.</a:t>
            </a:r>
            <a:endParaRPr sz="1400">
              <a:solidFill>
                <a:schemeClr val="dk1"/>
              </a:solidFill>
              <a:latin typeface="Roboto"/>
              <a:ea typeface="Roboto"/>
              <a:cs typeface="Roboto"/>
              <a:sym typeface="Roboto"/>
            </a:endParaRPr>
          </a:p>
          <a:p>
            <a:pPr indent="0" lvl="0" marL="0" rtl="0" algn="l">
              <a:lnSpc>
                <a:spcPct val="90000"/>
              </a:lnSpc>
              <a:spcBef>
                <a:spcPts val="800"/>
              </a:spcBef>
              <a:spcAft>
                <a:spcPts val="0"/>
              </a:spcAft>
              <a:buSzPts val="1400"/>
              <a:buNone/>
            </a:pPr>
            <a:r>
              <a:t/>
            </a:r>
            <a:endParaRPr b="1" sz="1400">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3f2ce537a21_1_18"/>
          <p:cNvSpPr txBox="1"/>
          <p:nvPr>
            <p:ph type="title"/>
          </p:nvPr>
        </p:nvSpPr>
        <p:spPr>
          <a:xfrm>
            <a:off x="530775" y="439150"/>
            <a:ext cx="5877000" cy="5583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US" sz="2000">
                <a:solidFill>
                  <a:srgbClr val="807FEC"/>
                </a:solidFill>
                <a:latin typeface="Roboto"/>
                <a:ea typeface="Roboto"/>
                <a:cs typeface="Roboto"/>
                <a:sym typeface="Roboto"/>
              </a:rPr>
              <a:t>Company Placement Questions-Booth’s Algorithm</a:t>
            </a:r>
            <a:endParaRPr b="1" sz="2000">
              <a:solidFill>
                <a:srgbClr val="807FEC"/>
              </a:solidFill>
              <a:latin typeface="Roboto"/>
              <a:ea typeface="Roboto"/>
              <a:cs typeface="Roboto"/>
              <a:sym typeface="Roboto"/>
            </a:endParaRPr>
          </a:p>
        </p:txBody>
      </p:sp>
      <p:sp>
        <p:nvSpPr>
          <p:cNvPr id="430" name="Google Shape;430;g3f2ce537a21_1_18"/>
          <p:cNvSpPr txBox="1"/>
          <p:nvPr>
            <p:ph idx="1" type="body"/>
          </p:nvPr>
        </p:nvSpPr>
        <p:spPr>
          <a:xfrm>
            <a:off x="628650" y="1369225"/>
            <a:ext cx="5779200" cy="29784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800"/>
              </a:spcBef>
              <a:spcAft>
                <a:spcPts val="0"/>
              </a:spcAft>
              <a:buClr>
                <a:schemeClr val="dk1"/>
              </a:buClr>
              <a:buSzPts val="523"/>
              <a:buFont typeface="Arial"/>
              <a:buNone/>
            </a:pPr>
            <a:r>
              <a:rPr b="1" lang="en-US" sz="1400">
                <a:solidFill>
                  <a:schemeClr val="dk1"/>
                </a:solidFill>
                <a:latin typeface="Roboto"/>
                <a:ea typeface="Roboto"/>
                <a:cs typeface="Roboto"/>
                <a:sym typeface="Roboto"/>
              </a:rPr>
              <a:t>Sample Input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lang="en-US" sz="1400">
                <a:solidFill>
                  <a:schemeClr val="dk1"/>
                </a:solidFill>
                <a:latin typeface="Roboto"/>
                <a:ea typeface="Roboto"/>
                <a:cs typeface="Roboto"/>
                <a:sym typeface="Roboto"/>
              </a:rPr>
              <a:t>7</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lang="en-US" sz="1400">
                <a:solidFill>
                  <a:schemeClr val="dk1"/>
                </a:solidFill>
                <a:latin typeface="Roboto"/>
                <a:ea typeface="Roboto"/>
                <a:cs typeface="Roboto"/>
                <a:sym typeface="Roboto"/>
              </a:rPr>
              <a:t>-3</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b="1" lang="en-US" sz="1400">
                <a:solidFill>
                  <a:schemeClr val="dk1"/>
                </a:solidFill>
                <a:latin typeface="Roboto"/>
                <a:ea typeface="Roboto"/>
                <a:cs typeface="Roboto"/>
                <a:sym typeface="Roboto"/>
              </a:rPr>
              <a:t>Sample Output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lang="en-US" sz="1400">
                <a:solidFill>
                  <a:schemeClr val="dk1"/>
                </a:solidFill>
                <a:latin typeface="Roboto"/>
                <a:ea typeface="Roboto"/>
                <a:cs typeface="Roboto"/>
                <a:sym typeface="Roboto"/>
              </a:rPr>
              <a:t>-21</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b="1" lang="en-US" sz="1400">
                <a:solidFill>
                  <a:schemeClr val="dk1"/>
                </a:solidFill>
                <a:latin typeface="Roboto"/>
                <a:ea typeface="Roboto"/>
                <a:cs typeface="Roboto"/>
                <a:sym typeface="Roboto"/>
              </a:rPr>
              <a:t>Sample Input: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lang="en-US" sz="1400">
                <a:solidFill>
                  <a:schemeClr val="dk1"/>
                </a:solidFill>
                <a:latin typeface="Roboto"/>
                <a:ea typeface="Roboto"/>
                <a:cs typeface="Roboto"/>
                <a:sym typeface="Roboto"/>
              </a:rPr>
              <a:t>5</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lang="en-US" sz="1400">
                <a:solidFill>
                  <a:schemeClr val="dk1"/>
                </a:solidFill>
                <a:latin typeface="Roboto"/>
                <a:ea typeface="Roboto"/>
                <a:cs typeface="Roboto"/>
                <a:sym typeface="Roboto"/>
              </a:rPr>
              <a:t>-4</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b="1" lang="en-US" sz="1400">
                <a:solidFill>
                  <a:schemeClr val="dk1"/>
                </a:solidFill>
                <a:latin typeface="Roboto"/>
                <a:ea typeface="Roboto"/>
                <a:cs typeface="Roboto"/>
                <a:sym typeface="Roboto"/>
              </a:rPr>
              <a:t>Sample Output: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523"/>
              <a:buFont typeface="Arial"/>
              <a:buNone/>
            </a:pPr>
            <a:r>
              <a:rPr lang="en-US" sz="1400">
                <a:solidFill>
                  <a:schemeClr val="dk1"/>
                </a:solidFill>
                <a:latin typeface="Roboto"/>
                <a:ea typeface="Roboto"/>
                <a:cs typeface="Roboto"/>
                <a:sym typeface="Roboto"/>
              </a:rPr>
              <a:t>-20</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665"/>
              <a:buNone/>
            </a:pPr>
            <a:r>
              <a:t/>
            </a:r>
            <a:endParaRPr sz="140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3f2ce537a21_1_28"/>
          <p:cNvSpPr txBox="1"/>
          <p:nvPr/>
        </p:nvSpPr>
        <p:spPr>
          <a:xfrm>
            <a:off x="535000" y="439275"/>
            <a:ext cx="3980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807FEC"/>
                </a:solidFill>
                <a:latin typeface="Roboto"/>
                <a:ea typeface="Roboto"/>
                <a:cs typeface="Roboto"/>
                <a:sym typeface="Roboto"/>
              </a:rPr>
              <a:t>Java Code</a:t>
            </a:r>
            <a:endParaRPr b="1" i="0" sz="2000" u="none" cap="none" strike="noStrike">
              <a:solidFill>
                <a:srgbClr val="807FEC"/>
              </a:solidFill>
              <a:latin typeface="Roboto"/>
              <a:ea typeface="Roboto"/>
              <a:cs typeface="Roboto"/>
              <a:sym typeface="Roboto"/>
            </a:endParaRPr>
          </a:p>
        </p:txBody>
      </p:sp>
      <p:sp>
        <p:nvSpPr>
          <p:cNvPr id="436" name="Google Shape;436;g3f2ce537a21_1_28"/>
          <p:cNvSpPr/>
          <p:nvPr/>
        </p:nvSpPr>
        <p:spPr>
          <a:xfrm>
            <a:off x="535000" y="1080900"/>
            <a:ext cx="3980100" cy="3653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import java.util.Scanner;</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public class Main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static int boothMultiply(int m, int q)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int result = 0;</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int negative = false ? 1 : 0;</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if ((m &amp;lt; 0 &amp;amp;&amp;amp; q &amp;gt; 0) || (m &amp;gt; 0 &amp;amp;&amp;amp; q &amp;lt; 0))</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negative =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m = Math.abs(m);</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q = Math.abs(q);</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while (q &amp;gt; 0)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if ((q &amp;amp; 1) ==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result += m;</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m &amp;lt;&amp;lt;=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rgbClr val="000000"/>
                </a:solidFill>
                <a:latin typeface="Roboto"/>
                <a:ea typeface="Roboto"/>
                <a:cs typeface="Roboto"/>
                <a:sym typeface="Roboto"/>
              </a:rPr>
              <a:t>q &amp;gt;&amp;gt;=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 }</a:t>
            </a:r>
            <a:endParaRPr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sp>
        <p:nvSpPr>
          <p:cNvPr id="437" name="Google Shape;437;g3f2ce537a21_1_28"/>
          <p:cNvSpPr/>
          <p:nvPr/>
        </p:nvSpPr>
        <p:spPr>
          <a:xfrm>
            <a:off x="4515100" y="1080900"/>
            <a:ext cx="3980100" cy="3653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return negative == 1 ? -result : result;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public static void main(String[] args)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Scanner sc = new Scanner(System.in);</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int m = sc.nextInt();</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int q = sc.nextInt();</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System.out.println(boothMultiply(m, q));</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sp>
        <p:nvSpPr>
          <p:cNvPr id="438" name="Google Shape;438;g3f2ce537a21_1_28"/>
          <p:cNvSpPr/>
          <p:nvPr/>
        </p:nvSpPr>
        <p:spPr>
          <a:xfrm>
            <a:off x="5383450" y="3173750"/>
            <a:ext cx="2632800" cy="615600"/>
          </a:xfrm>
          <a:prstGeom prst="rect">
            <a:avLst/>
          </a:prstGeom>
          <a:solidFill>
            <a:schemeClr val="lt1"/>
          </a:solidFill>
          <a:ln cap="flat" cmpd="sng" w="9525">
            <a:solidFill>
              <a:srgbClr val="8181E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highlight>
                  <a:schemeClr val="lt1"/>
                </a:highlight>
                <a:latin typeface="Roboto"/>
                <a:ea typeface="Roboto"/>
                <a:cs typeface="Roboto"/>
                <a:sym typeface="Roboto"/>
              </a:rPr>
              <a:t>Time Complexity : O(log q)</a:t>
            </a:r>
            <a:endParaRPr b="1" i="0" sz="1400" u="none" cap="none" strike="noStrike">
              <a:solidFill>
                <a:srgbClr val="000000"/>
              </a:solidFill>
              <a:highlight>
                <a:schemeClr val="lt1"/>
              </a:highlight>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highlight>
                  <a:schemeClr val="lt1"/>
                </a:highlight>
                <a:latin typeface="Roboto"/>
                <a:ea typeface="Roboto"/>
                <a:cs typeface="Roboto"/>
                <a:sym typeface="Roboto"/>
              </a:rPr>
              <a:t>Space Complexity : O(1)</a:t>
            </a:r>
            <a:endParaRPr b="1" i="0" sz="1400" u="none" cap="none" strike="noStrike">
              <a:solidFill>
                <a:srgbClr val="000000"/>
              </a:solidFill>
              <a:highlight>
                <a:schemeClr val="lt1"/>
              </a:highlight>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f2ce537a21_1_48"/>
          <p:cNvSpPr txBox="1"/>
          <p:nvPr>
            <p:ph type="title"/>
          </p:nvPr>
        </p:nvSpPr>
        <p:spPr>
          <a:xfrm>
            <a:off x="628650" y="447625"/>
            <a:ext cx="7886700" cy="533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US" sz="2000">
                <a:solidFill>
                  <a:srgbClr val="807FEC"/>
                </a:solidFill>
                <a:latin typeface="Roboto"/>
                <a:ea typeface="Roboto"/>
                <a:cs typeface="Roboto"/>
                <a:sym typeface="Roboto"/>
              </a:rPr>
              <a:t>Company Placement Question-Booth’s Algorithm</a:t>
            </a:r>
            <a:endParaRPr b="1" sz="2000">
              <a:solidFill>
                <a:srgbClr val="807FEC"/>
              </a:solidFill>
              <a:latin typeface="Roboto"/>
              <a:ea typeface="Roboto"/>
              <a:cs typeface="Roboto"/>
              <a:sym typeface="Roboto"/>
            </a:endParaRPr>
          </a:p>
        </p:txBody>
      </p:sp>
      <p:sp>
        <p:nvSpPr>
          <p:cNvPr id="444" name="Google Shape;444;g3f2ce537a21_1_48"/>
          <p:cNvSpPr txBox="1"/>
          <p:nvPr>
            <p:ph idx="1" type="body"/>
          </p:nvPr>
        </p:nvSpPr>
        <p:spPr>
          <a:xfrm>
            <a:off x="628650" y="1314851"/>
            <a:ext cx="7886700" cy="3597600"/>
          </a:xfrm>
          <a:prstGeom prst="rect">
            <a:avLst/>
          </a:prstGeom>
          <a:noFill/>
          <a:ln cap="flat" cmpd="sng" w="9525">
            <a:solidFill>
              <a:schemeClr val="dk1"/>
            </a:solidFill>
            <a:prstDash val="solid"/>
            <a:round/>
            <a:headEnd len="sm" w="sm" type="none"/>
            <a:tailEnd len="sm" w="sm" type="none"/>
          </a:ln>
        </p:spPr>
        <p:txBody>
          <a:bodyPr anchorCtr="0" anchor="t" bIns="34275" lIns="68575" spcFirstLastPara="1" rIns="68575" wrap="square" tIns="34275">
            <a:noAutofit/>
          </a:bodyPr>
          <a:lstStyle/>
          <a:p>
            <a:pPr indent="0" lvl="0" marL="0" rtl="0" algn="l">
              <a:lnSpc>
                <a:spcPct val="100000"/>
              </a:lnSpc>
              <a:spcBef>
                <a:spcPts val="800"/>
              </a:spcBef>
              <a:spcAft>
                <a:spcPts val="0"/>
              </a:spcAft>
              <a:buSzPts val="1400"/>
              <a:buNone/>
            </a:pPr>
            <a:r>
              <a:rPr b="1" lang="en-US" sz="1400">
                <a:solidFill>
                  <a:schemeClr val="dk1"/>
                </a:solidFill>
                <a:latin typeface="Roboto"/>
                <a:ea typeface="Roboto"/>
                <a:cs typeface="Roboto"/>
                <a:sym typeface="Roboto"/>
              </a:rPr>
              <a:t>Problem Statement                                                                                           Asked in Cognizant (2023)</a:t>
            </a:r>
            <a:endParaRPr b="1"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In a low-level systems interview round, candidates had to simulate processor</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multiplication logic.</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Given two signed integers, implement Booth’s Multiplication Algorithm and</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output the product.</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Do not use:</a:t>
            </a:r>
            <a:endParaRPr sz="1400">
              <a:solidFill>
                <a:schemeClr val="dk1"/>
              </a:solidFill>
              <a:latin typeface="Roboto"/>
              <a:ea typeface="Roboto"/>
              <a:cs typeface="Roboto"/>
              <a:sym typeface="Roboto"/>
            </a:endParaRPr>
          </a:p>
          <a:p>
            <a:pPr indent="-317500" lvl="0" marL="457200" rtl="0" algn="l">
              <a:lnSpc>
                <a:spcPct val="100000"/>
              </a:lnSpc>
              <a:spcBef>
                <a:spcPts val="800"/>
              </a:spcBef>
              <a:spcAft>
                <a:spcPts val="0"/>
              </a:spcAft>
              <a:buSzPts val="1400"/>
              <a:buFont typeface="Roboto"/>
              <a:buChar char="●"/>
            </a:pPr>
            <a:r>
              <a:rPr lang="en-US" sz="1400">
                <a:solidFill>
                  <a:schemeClr val="dk1"/>
                </a:solidFill>
                <a:latin typeface="Roboto"/>
                <a:ea typeface="Roboto"/>
                <a:cs typeface="Roboto"/>
                <a:sym typeface="Roboto"/>
              </a:rPr>
              <a:t>*</a:t>
            </a:r>
            <a:endParaRPr sz="1400">
              <a:solidFill>
                <a:schemeClr val="dk1"/>
              </a:solidFill>
              <a:latin typeface="Roboto"/>
              <a:ea typeface="Roboto"/>
              <a:cs typeface="Roboto"/>
              <a:sym typeface="Roboto"/>
            </a:endParaRPr>
          </a:p>
          <a:p>
            <a:pPr indent="-317500" lvl="0" marL="457200" rtl="0" algn="l">
              <a:lnSpc>
                <a:spcPct val="100000"/>
              </a:lnSpc>
              <a:spcBef>
                <a:spcPts val="0"/>
              </a:spcBef>
              <a:spcAft>
                <a:spcPts val="0"/>
              </a:spcAft>
              <a:buSzPts val="1400"/>
              <a:buFont typeface="Roboto"/>
              <a:buChar char="●"/>
            </a:pPr>
            <a:r>
              <a:rPr lang="en-US" sz="1400">
                <a:solidFill>
                  <a:schemeClr val="dk1"/>
                </a:solidFill>
                <a:latin typeface="Roboto"/>
                <a:ea typeface="Roboto"/>
                <a:cs typeface="Roboto"/>
                <a:sym typeface="Roboto"/>
              </a:rPr>
              <a:t>Math.multiplyExact()</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b="1" lang="en-US" sz="1400">
                <a:solidFill>
                  <a:schemeClr val="dk1"/>
                </a:solidFill>
                <a:latin typeface="Roboto"/>
                <a:ea typeface="Roboto"/>
                <a:cs typeface="Roboto"/>
                <a:sym typeface="Roboto"/>
              </a:rPr>
              <a:t>Input Format</a:t>
            </a:r>
            <a:endParaRPr b="1"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Single line containing:</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rPr lang="en-US" sz="1400">
                <a:solidFill>
                  <a:schemeClr val="dk1"/>
                </a:solidFill>
                <a:latin typeface="Roboto"/>
                <a:ea typeface="Roboto"/>
                <a:cs typeface="Roboto"/>
                <a:sym typeface="Roboto"/>
              </a:rPr>
              <a:t>A </a:t>
            </a:r>
            <a:r>
              <a:rPr lang="en-US" sz="1400">
                <a:solidFill>
                  <a:schemeClr val="dk1"/>
                </a:solidFill>
                <a:latin typeface="Roboto"/>
                <a:ea typeface="Roboto"/>
                <a:cs typeface="Roboto"/>
                <a:sym typeface="Roboto"/>
              </a:rPr>
              <a:t>B Where</a:t>
            </a:r>
            <a:r>
              <a:rPr lang="en-US" sz="1400">
                <a:solidFill>
                  <a:schemeClr val="dk1"/>
                </a:solidFill>
                <a:latin typeface="Roboto"/>
                <a:ea typeface="Roboto"/>
                <a:cs typeface="Roboto"/>
                <a:sym typeface="Roboto"/>
              </a:rPr>
              <a:t>:</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t/>
            </a:r>
            <a:endParaRPr sz="1400">
              <a:solidFill>
                <a:schemeClr val="dk1"/>
              </a:solidFill>
              <a:latin typeface="Roboto"/>
              <a:ea typeface="Roboto"/>
              <a:cs typeface="Roboto"/>
              <a:sym typeface="Roboto"/>
            </a:endParaRPr>
          </a:p>
          <a:p>
            <a:pPr indent="0" lvl="0" marL="0" rtl="0" algn="l">
              <a:lnSpc>
                <a:spcPct val="100000"/>
              </a:lnSpc>
              <a:spcBef>
                <a:spcPts val="800"/>
              </a:spcBef>
              <a:spcAft>
                <a:spcPts val="0"/>
              </a:spcAft>
              <a:buSzPts val="1400"/>
              <a:buNone/>
            </a:pPr>
            <a:r>
              <a:t/>
            </a:r>
            <a:endParaRPr b="1" sz="14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f2ce537a21_1_60"/>
          <p:cNvSpPr txBox="1"/>
          <p:nvPr>
            <p:ph type="title"/>
          </p:nvPr>
        </p:nvSpPr>
        <p:spPr>
          <a:xfrm>
            <a:off x="530775" y="472999"/>
            <a:ext cx="7886700" cy="482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US" sz="1400">
                <a:solidFill>
                  <a:srgbClr val="807FEC"/>
                </a:solidFill>
                <a:latin typeface="Roboto"/>
                <a:ea typeface="Roboto"/>
                <a:cs typeface="Roboto"/>
                <a:sym typeface="Roboto"/>
              </a:rPr>
              <a:t>Company Placement Questions-Booth’s Algorithm</a:t>
            </a:r>
            <a:endParaRPr b="1" sz="1400">
              <a:solidFill>
                <a:srgbClr val="807FEC"/>
              </a:solidFill>
              <a:latin typeface="Roboto"/>
              <a:ea typeface="Roboto"/>
              <a:cs typeface="Roboto"/>
              <a:sym typeface="Roboto"/>
            </a:endParaRPr>
          </a:p>
        </p:txBody>
      </p:sp>
      <p:sp>
        <p:nvSpPr>
          <p:cNvPr id="450" name="Google Shape;450;g3f2ce537a21_1_60"/>
          <p:cNvSpPr txBox="1"/>
          <p:nvPr>
            <p:ph idx="1" type="body"/>
          </p:nvPr>
        </p:nvSpPr>
        <p:spPr>
          <a:xfrm>
            <a:off x="628650" y="1369225"/>
            <a:ext cx="4857000" cy="2622900"/>
          </a:xfrm>
          <a:prstGeom prst="rect">
            <a:avLst/>
          </a:prstGeom>
          <a:noFill/>
          <a:ln>
            <a:noFill/>
          </a:ln>
        </p:spPr>
        <p:txBody>
          <a:bodyPr anchorCtr="0" anchor="t" bIns="34275" lIns="68575" spcFirstLastPara="1" rIns="68575" wrap="square" tIns="34275">
            <a:noAutofit/>
          </a:bodyPr>
          <a:lstStyle/>
          <a:p>
            <a:pPr indent="0" lvl="0" marL="0" rtl="0" algn="l">
              <a:lnSpc>
                <a:spcPct val="70000"/>
              </a:lnSpc>
              <a:spcBef>
                <a:spcPts val="800"/>
              </a:spcBef>
              <a:spcAft>
                <a:spcPts val="0"/>
              </a:spcAft>
              <a:buClr>
                <a:schemeClr val="dk1"/>
              </a:buClr>
              <a:buSzPts val="1018"/>
              <a:buFont typeface="Arial"/>
              <a:buNone/>
            </a:pPr>
            <a:r>
              <a:rPr lang="en-US" sz="1400">
                <a:solidFill>
                  <a:schemeClr val="dk1"/>
                </a:solidFill>
                <a:latin typeface="Roboto"/>
                <a:ea typeface="Roboto"/>
                <a:cs typeface="Roboto"/>
                <a:sym typeface="Roboto"/>
              </a:rPr>
              <a:t>A → Multiplicand</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1018"/>
              <a:buFont typeface="Arial"/>
              <a:buNone/>
            </a:pPr>
            <a:r>
              <a:rPr lang="en-US" sz="1400">
                <a:solidFill>
                  <a:schemeClr val="dk1"/>
                </a:solidFill>
                <a:latin typeface="Roboto"/>
                <a:ea typeface="Roboto"/>
                <a:cs typeface="Roboto"/>
                <a:sym typeface="Roboto"/>
              </a:rPr>
              <a:t>B → Multiplier</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Clr>
                <a:schemeClr val="dk1"/>
              </a:buClr>
              <a:buSzPts val="1018"/>
              <a:buFont typeface="Arial"/>
              <a:buNone/>
            </a:pPr>
            <a:r>
              <a:rPr b="1" lang="en-US" sz="1400">
                <a:solidFill>
                  <a:schemeClr val="dk1"/>
                </a:solidFill>
                <a:latin typeface="Roboto"/>
                <a:ea typeface="Roboto"/>
                <a:cs typeface="Roboto"/>
                <a:sym typeface="Roboto"/>
              </a:rPr>
              <a:t>Output Format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rPr lang="en-US" sz="1400">
                <a:solidFill>
                  <a:schemeClr val="dk1"/>
                </a:solidFill>
                <a:latin typeface="Roboto"/>
                <a:ea typeface="Roboto"/>
                <a:cs typeface="Roboto"/>
                <a:sym typeface="Roboto"/>
              </a:rPr>
              <a:t>Print one integer representing the product</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rPr b="1" lang="en-US" sz="1400">
                <a:solidFill>
                  <a:schemeClr val="dk1"/>
                </a:solidFill>
                <a:latin typeface="Roboto"/>
                <a:ea typeface="Roboto"/>
                <a:cs typeface="Roboto"/>
                <a:sym typeface="Roboto"/>
              </a:rPr>
              <a:t>Sample Input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rPr lang="en-US" sz="1400">
                <a:solidFill>
                  <a:schemeClr val="dk1"/>
                </a:solidFill>
                <a:latin typeface="Roboto"/>
                <a:ea typeface="Roboto"/>
                <a:cs typeface="Roboto"/>
                <a:sym typeface="Roboto"/>
              </a:rPr>
              <a:t>-5 6</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rPr b="1" lang="en-US" sz="1400">
                <a:solidFill>
                  <a:schemeClr val="dk1"/>
                </a:solidFill>
                <a:latin typeface="Roboto"/>
                <a:ea typeface="Roboto"/>
                <a:cs typeface="Roboto"/>
                <a:sym typeface="Roboto"/>
              </a:rPr>
              <a:t>Sample Output</a:t>
            </a:r>
            <a:endParaRPr b="1"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rPr lang="en-US" sz="1400">
                <a:solidFill>
                  <a:schemeClr val="dk1"/>
                </a:solidFill>
                <a:latin typeface="Roboto"/>
                <a:ea typeface="Roboto"/>
                <a:cs typeface="Roboto"/>
                <a:sym typeface="Roboto"/>
              </a:rPr>
              <a:t>-30</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t/>
            </a:r>
            <a:endParaRPr sz="1400">
              <a:latin typeface="Roboto"/>
              <a:ea typeface="Roboto"/>
              <a:cs typeface="Roboto"/>
              <a:sym typeface="Roboto"/>
            </a:endParaRPr>
          </a:p>
          <a:p>
            <a:pPr indent="0" lvl="0" marL="0" rtl="0" algn="l">
              <a:lnSpc>
                <a:spcPct val="70000"/>
              </a:lnSpc>
              <a:spcBef>
                <a:spcPts val="800"/>
              </a:spcBef>
              <a:spcAft>
                <a:spcPts val="0"/>
              </a:spcAft>
              <a:buClr>
                <a:schemeClr val="dk1"/>
              </a:buClr>
              <a:buSzPts val="1018"/>
              <a:buFont typeface="Arial"/>
              <a:buNone/>
            </a:pPr>
            <a:r>
              <a:t/>
            </a:r>
            <a:endParaRPr sz="1400">
              <a:solidFill>
                <a:schemeClr val="dk1"/>
              </a:solidFill>
              <a:latin typeface="Roboto"/>
              <a:ea typeface="Roboto"/>
              <a:cs typeface="Roboto"/>
              <a:sym typeface="Roboto"/>
            </a:endParaRPr>
          </a:p>
          <a:p>
            <a:pPr indent="0" lvl="0" marL="0" rtl="0" algn="l">
              <a:lnSpc>
                <a:spcPct val="70000"/>
              </a:lnSpc>
              <a:spcBef>
                <a:spcPts val="800"/>
              </a:spcBef>
              <a:spcAft>
                <a:spcPts val="0"/>
              </a:spcAft>
              <a:buSzPts val="1295"/>
              <a:buNone/>
            </a:pPr>
            <a:r>
              <a:t/>
            </a:r>
            <a:endParaRPr sz="1400">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f2ce537a21_1_71"/>
          <p:cNvSpPr txBox="1"/>
          <p:nvPr>
            <p:ph type="title"/>
          </p:nvPr>
        </p:nvSpPr>
        <p:spPr>
          <a:xfrm>
            <a:off x="628650" y="396850"/>
            <a:ext cx="4239600" cy="6429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100"/>
              <a:buFont typeface="Arial"/>
              <a:buNone/>
            </a:pPr>
            <a:r>
              <a:rPr b="1" lang="en-US" sz="2000">
                <a:solidFill>
                  <a:srgbClr val="807FEC"/>
                </a:solidFill>
                <a:latin typeface="Roboto"/>
                <a:ea typeface="Roboto"/>
                <a:cs typeface="Roboto"/>
                <a:sym typeface="Roboto"/>
              </a:rPr>
              <a:t>Java Code</a:t>
            </a:r>
            <a:endParaRPr b="1" sz="2000">
              <a:latin typeface="Roboto"/>
              <a:ea typeface="Roboto"/>
              <a:cs typeface="Roboto"/>
              <a:sym typeface="Roboto"/>
            </a:endParaRPr>
          </a:p>
        </p:txBody>
      </p:sp>
      <p:sp>
        <p:nvSpPr>
          <p:cNvPr id="456" name="Google Shape;456;g3f2ce537a21_1_71"/>
          <p:cNvSpPr/>
          <p:nvPr/>
        </p:nvSpPr>
        <p:spPr>
          <a:xfrm>
            <a:off x="535000" y="1080900"/>
            <a:ext cx="3980100" cy="3653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import java.util.Scanner;</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public class Main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static int booth(int a, int b)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int sign = ((a &amp;lt; 0) ^ (b &amp;lt; 0)) ? -1 :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a = Math.abs(a);</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b = Math.abs(b);</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int res = 0;</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while (b != 0) {</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if ((b &amp;amp; 1) ==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res += a;</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a &amp;lt;&amp;lt;=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b &amp;gt;&amp;gt;= 1;</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rgbClr val="000000"/>
                </a:solidFill>
                <a:latin typeface="Roboto"/>
                <a:ea typeface="Roboto"/>
                <a:cs typeface="Roboto"/>
                <a:sym typeface="Roboto"/>
              </a:rPr>
              <a:t>}</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sp>
        <p:nvSpPr>
          <p:cNvPr id="457" name="Google Shape;457;g3f2ce537a21_1_71"/>
          <p:cNvSpPr/>
          <p:nvPr/>
        </p:nvSpPr>
        <p:spPr>
          <a:xfrm>
            <a:off x="4515100" y="1080900"/>
            <a:ext cx="3980100" cy="3653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return res * sign;</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public static void main(String[] args) {</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Scanner sc = new Scanner(System.in);</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int a = sc.nextInt();</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int b = sc.nextInt();</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System.out.println(booth(a, b));</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1400" u="none" cap="none" strike="noStrike">
                <a:solidFill>
                  <a:schemeClr val="dk1"/>
                </a:solidFill>
                <a:latin typeface="Roboto"/>
                <a:ea typeface="Roboto"/>
                <a:cs typeface="Roboto"/>
                <a:sym typeface="Roboto"/>
              </a:rPr>
              <a:t>}</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i="0" lang="en-US" sz="1400" u="none" cap="none" strike="noStrike">
                <a:solidFill>
                  <a:schemeClr val="dk1"/>
                </a:solidFill>
                <a:latin typeface="Roboto"/>
                <a:ea typeface="Roboto"/>
                <a:cs typeface="Roboto"/>
                <a:sym typeface="Roboto"/>
              </a:rPr>
              <a:t>}</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i="0" sz="1400" u="none" cap="none" strike="noStrike">
              <a:solidFill>
                <a:schemeClr val="dk1"/>
              </a:solidFill>
              <a:latin typeface="Roboto"/>
              <a:ea typeface="Roboto"/>
              <a:cs typeface="Roboto"/>
              <a:sym typeface="Roboto"/>
            </a:endParaRPr>
          </a:p>
        </p:txBody>
      </p:sp>
      <p:sp>
        <p:nvSpPr>
          <p:cNvPr id="458" name="Google Shape;458;g3f2ce537a21_1_71"/>
          <p:cNvSpPr/>
          <p:nvPr/>
        </p:nvSpPr>
        <p:spPr>
          <a:xfrm>
            <a:off x="5539975" y="3121600"/>
            <a:ext cx="2629200" cy="720000"/>
          </a:xfrm>
          <a:prstGeom prst="rect">
            <a:avLst/>
          </a:prstGeom>
          <a:solidFill>
            <a:schemeClr val="lt1"/>
          </a:solidFill>
          <a:ln cap="flat" cmpd="sng" w="9525">
            <a:solidFill>
              <a:srgbClr val="8181E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n-US" sz="1400" u="none" cap="none" strike="noStrike">
                <a:solidFill>
                  <a:schemeClr val="dk1"/>
                </a:solidFill>
                <a:highlight>
                  <a:schemeClr val="lt1"/>
                </a:highlight>
                <a:latin typeface="Arial"/>
                <a:ea typeface="Arial"/>
                <a:cs typeface="Arial"/>
                <a:sym typeface="Arial"/>
              </a:rPr>
              <a:t>Time Complexity : O(log b)</a:t>
            </a:r>
            <a:endParaRPr b="1" i="0" sz="1400" u="none" cap="none" strike="noStrike">
              <a:solidFill>
                <a:schemeClr val="dk1"/>
              </a:solidFill>
              <a:highlight>
                <a:schemeClr val="lt1"/>
              </a:highlight>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US" sz="1400" u="none" cap="none" strike="noStrike">
                <a:solidFill>
                  <a:schemeClr val="dk1"/>
                </a:solidFill>
                <a:highlight>
                  <a:schemeClr val="lt1"/>
                </a:highlight>
                <a:latin typeface="Arial"/>
                <a:ea typeface="Arial"/>
                <a:cs typeface="Arial"/>
                <a:sym typeface="Arial"/>
              </a:rPr>
              <a:t>Space Complexity : O(1)</a:t>
            </a:r>
            <a:endParaRPr b="1" i="0" sz="1400" u="none" cap="none" strike="noStrike">
              <a:solidFill>
                <a:schemeClr val="dk1"/>
              </a:solidFill>
              <a:highlight>
                <a:schemeClr val="lt1"/>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07FEC"/>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272ced43323_0_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464" name="Google Shape;464;g272ced43323_0_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465" name="Google Shape;465;g272ced43323_0_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466" name="Google Shape;466;g272ced43323_0_3"/>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467" name="Google Shape;467;g272ced43323_0_3"/>
          <p:cNvSpPr txBox="1"/>
          <p:nvPr/>
        </p:nvSpPr>
        <p:spPr>
          <a:xfrm>
            <a:off x="126112" y="2109730"/>
            <a:ext cx="5033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2800" u="none" cap="none" strike="noStrike">
                <a:solidFill>
                  <a:srgbClr val="8181EF"/>
                </a:solidFill>
                <a:latin typeface="Roboto Black"/>
                <a:ea typeface="Roboto Black"/>
                <a:cs typeface="Roboto Black"/>
                <a:sym typeface="Roboto Black"/>
              </a:rPr>
              <a:t>INTERVIEW QUESTIONS</a:t>
            </a:r>
            <a:endParaRPr b="0" i="0" sz="1000" u="none" cap="none" strike="noStrike">
              <a:solidFill>
                <a:srgbClr val="8181EF"/>
              </a:solidFill>
              <a:latin typeface="Arial"/>
              <a:ea typeface="Arial"/>
              <a:cs typeface="Arial"/>
              <a:sym typeface="Arial"/>
            </a:endParaRPr>
          </a:p>
        </p:txBody>
      </p:sp>
      <p:sp>
        <p:nvSpPr>
          <p:cNvPr id="468" name="Google Shape;468;g272ced43323_0_3"/>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6"/>
          <p:cNvSpPr txBox="1"/>
          <p:nvPr>
            <p:ph idx="1" type="body"/>
          </p:nvPr>
        </p:nvSpPr>
        <p:spPr>
          <a:xfrm>
            <a:off x="311700" y="1152475"/>
            <a:ext cx="8520600" cy="2906569"/>
          </a:xfrm>
          <a:prstGeom prst="rect">
            <a:avLst/>
          </a:prstGeom>
          <a:noFill/>
          <a:ln>
            <a:noFill/>
          </a:ln>
        </p:spPr>
        <p:txBody>
          <a:bodyPr anchorCtr="0" anchor="t" bIns="91425" lIns="91425" spcFirstLastPara="1" rIns="91425" wrap="square" tIns="91425">
            <a:noAutofit/>
          </a:bodyPr>
          <a:lstStyle/>
          <a:p>
            <a:pPr indent="0" lvl="0" marL="114300" rtl="0" algn="l">
              <a:lnSpc>
                <a:spcPct val="200000"/>
              </a:lnSpc>
              <a:spcBef>
                <a:spcPts val="0"/>
              </a:spcBef>
              <a:spcAft>
                <a:spcPts val="0"/>
              </a:spcAft>
              <a:buSzPts val="1800"/>
              <a:buNone/>
            </a:pPr>
            <a:r>
              <a:rPr lang="en-US" sz="1400">
                <a:solidFill>
                  <a:schemeClr val="dk1"/>
                </a:solidFill>
              </a:rPr>
              <a:t>1. What is Booth’s Algorithm?</a:t>
            </a:r>
            <a:endParaRPr sz="1400"/>
          </a:p>
          <a:p>
            <a:pPr indent="0" lvl="0" marL="114300" rtl="0" algn="l">
              <a:lnSpc>
                <a:spcPct val="200000"/>
              </a:lnSpc>
              <a:spcBef>
                <a:spcPts val="0"/>
              </a:spcBef>
              <a:spcAft>
                <a:spcPts val="0"/>
              </a:spcAft>
              <a:buSzPts val="1800"/>
              <a:buNone/>
            </a:pPr>
            <a:r>
              <a:rPr lang="en-US" sz="1400">
                <a:solidFill>
                  <a:schemeClr val="dk1"/>
                </a:solidFill>
              </a:rPr>
              <a:t>Answer:</a:t>
            </a:r>
            <a:endParaRPr sz="1400"/>
          </a:p>
          <a:p>
            <a:pPr indent="0" lvl="0" marL="114300" rtl="0" algn="l">
              <a:lnSpc>
                <a:spcPct val="200000"/>
              </a:lnSpc>
              <a:spcBef>
                <a:spcPts val="0"/>
              </a:spcBef>
              <a:spcAft>
                <a:spcPts val="0"/>
              </a:spcAft>
              <a:buSzPts val="1800"/>
              <a:buNone/>
            </a:pPr>
            <a:r>
              <a:rPr lang="en-US" sz="1400">
                <a:solidFill>
                  <a:schemeClr val="dk1"/>
                </a:solidFill>
              </a:rPr>
              <a:t>Booth's Algorithm is a multiplication algorithm that allows for the multiplication of two signed binary integers represented in 2's complement form. It optimizes the multiplication process by reducing the number of necessary addition and subtraction operations, thus speeding up the performance.</a:t>
            </a:r>
            <a:endParaRPr sz="1400">
              <a:solidFill>
                <a:schemeClr val="dk1"/>
              </a:solidFill>
            </a:endParaRPr>
          </a:p>
        </p:txBody>
      </p:sp>
      <p:sp>
        <p:nvSpPr>
          <p:cNvPr id="474" name="Google Shape;474;p36"/>
          <p:cNvSpPr txBox="1"/>
          <p:nvPr/>
        </p:nvSpPr>
        <p:spPr>
          <a:xfrm>
            <a:off x="122130"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Interview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7"/>
          <p:cNvSpPr txBox="1"/>
          <p:nvPr>
            <p:ph idx="1" type="body"/>
          </p:nvPr>
        </p:nvSpPr>
        <p:spPr>
          <a:xfrm>
            <a:off x="311700" y="1152475"/>
            <a:ext cx="8520600" cy="2906569"/>
          </a:xfrm>
          <a:prstGeom prst="rect">
            <a:avLst/>
          </a:prstGeom>
          <a:noFill/>
          <a:ln>
            <a:noFill/>
          </a:ln>
        </p:spPr>
        <p:txBody>
          <a:bodyPr anchorCtr="0" anchor="t" bIns="91425" lIns="91425" spcFirstLastPara="1" rIns="91425" wrap="square" tIns="91425">
            <a:noAutofit/>
          </a:bodyPr>
          <a:lstStyle/>
          <a:p>
            <a:pPr indent="0" lvl="0" marL="114300" rtl="0" algn="l">
              <a:lnSpc>
                <a:spcPct val="200000"/>
              </a:lnSpc>
              <a:spcBef>
                <a:spcPts val="0"/>
              </a:spcBef>
              <a:spcAft>
                <a:spcPts val="0"/>
              </a:spcAft>
              <a:buSzPts val="1800"/>
              <a:buNone/>
            </a:pPr>
            <a:r>
              <a:rPr lang="en-US" sz="1400">
                <a:solidFill>
                  <a:schemeClr val="dk1"/>
                </a:solidFill>
              </a:rPr>
              <a:t>2. How does Booth’s Algorithm handle the multiplication process?</a:t>
            </a:r>
            <a:endParaRPr sz="1400"/>
          </a:p>
          <a:p>
            <a:pPr indent="0" lvl="0" marL="114300" rtl="0" algn="l">
              <a:lnSpc>
                <a:spcPct val="200000"/>
              </a:lnSpc>
              <a:spcBef>
                <a:spcPts val="0"/>
              </a:spcBef>
              <a:spcAft>
                <a:spcPts val="0"/>
              </a:spcAft>
              <a:buSzPts val="1800"/>
              <a:buNone/>
            </a:pPr>
            <a:r>
              <a:rPr lang="en-US" sz="1400">
                <a:solidFill>
                  <a:schemeClr val="dk1"/>
                </a:solidFill>
              </a:rPr>
              <a:t>Answer:</a:t>
            </a:r>
            <a:endParaRPr sz="1400"/>
          </a:p>
          <a:p>
            <a:pPr indent="0" lvl="0" marL="114300" rtl="0" algn="l">
              <a:lnSpc>
                <a:spcPct val="200000"/>
              </a:lnSpc>
              <a:spcBef>
                <a:spcPts val="0"/>
              </a:spcBef>
              <a:spcAft>
                <a:spcPts val="0"/>
              </a:spcAft>
              <a:buSzPts val="1800"/>
              <a:buNone/>
            </a:pPr>
            <a:r>
              <a:rPr lang="en-US" sz="1400">
                <a:solidFill>
                  <a:schemeClr val="dk1"/>
                </a:solidFill>
              </a:rPr>
              <a:t>Booth's Algorithm examines the bits of the multiplier and performs specific operations based on the following rules:</a:t>
            </a:r>
            <a:endParaRPr sz="1400"/>
          </a:p>
          <a:p>
            <a:pPr indent="0" lvl="0" marL="114300" rtl="0" algn="l">
              <a:lnSpc>
                <a:spcPct val="200000"/>
              </a:lnSpc>
              <a:spcBef>
                <a:spcPts val="0"/>
              </a:spcBef>
              <a:spcAft>
                <a:spcPts val="0"/>
              </a:spcAft>
              <a:buSzPts val="1800"/>
              <a:buNone/>
            </a:pPr>
            <a:r>
              <a:rPr lang="en-US" sz="1400">
                <a:solidFill>
                  <a:schemeClr val="dk1"/>
                </a:solidFill>
              </a:rPr>
              <a:t>If a pair of bits is "10", subtract the multiplicand from the accumulator.</a:t>
            </a:r>
            <a:endParaRPr sz="1400"/>
          </a:p>
          <a:p>
            <a:pPr indent="0" lvl="0" marL="114300" rtl="0" algn="l">
              <a:lnSpc>
                <a:spcPct val="200000"/>
              </a:lnSpc>
              <a:spcBef>
                <a:spcPts val="0"/>
              </a:spcBef>
              <a:spcAft>
                <a:spcPts val="0"/>
              </a:spcAft>
              <a:buSzPts val="1800"/>
              <a:buNone/>
            </a:pPr>
            <a:r>
              <a:rPr lang="en-US" sz="1400">
                <a:solidFill>
                  <a:schemeClr val="dk1"/>
                </a:solidFill>
              </a:rPr>
              <a:t>If a pair of bits is "01", add the multiplicand to the accumulator.</a:t>
            </a:r>
            <a:endParaRPr sz="1400"/>
          </a:p>
          <a:p>
            <a:pPr indent="0" lvl="0" marL="114300" rtl="0" algn="l">
              <a:lnSpc>
                <a:spcPct val="200000"/>
              </a:lnSpc>
              <a:spcBef>
                <a:spcPts val="0"/>
              </a:spcBef>
              <a:spcAft>
                <a:spcPts val="0"/>
              </a:spcAft>
              <a:buSzPts val="1800"/>
              <a:buNone/>
            </a:pPr>
            <a:r>
              <a:rPr lang="en-US" sz="1400">
                <a:solidFill>
                  <a:schemeClr val="dk1"/>
                </a:solidFill>
              </a:rPr>
              <a:t>If the bits are "00" or "11", simply perform an arithmetic right shift (ARS) on the partial product.</a:t>
            </a:r>
            <a:endParaRPr sz="1400">
              <a:solidFill>
                <a:schemeClr val="dk1"/>
              </a:solidFill>
            </a:endParaRPr>
          </a:p>
        </p:txBody>
      </p:sp>
      <p:sp>
        <p:nvSpPr>
          <p:cNvPr id="480" name="Google Shape;480;p37"/>
          <p:cNvSpPr txBox="1"/>
          <p:nvPr/>
        </p:nvSpPr>
        <p:spPr>
          <a:xfrm>
            <a:off x="122130"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Interview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8"/>
          <p:cNvSpPr txBox="1"/>
          <p:nvPr>
            <p:ph idx="1" type="body"/>
          </p:nvPr>
        </p:nvSpPr>
        <p:spPr>
          <a:xfrm>
            <a:off x="311700" y="1124596"/>
            <a:ext cx="8520600" cy="2906700"/>
          </a:xfrm>
          <a:prstGeom prst="rect">
            <a:avLst/>
          </a:prstGeom>
          <a:noFill/>
          <a:ln>
            <a:noFill/>
          </a:ln>
        </p:spPr>
        <p:txBody>
          <a:bodyPr anchorCtr="0" anchor="t" bIns="91425" lIns="91425" spcFirstLastPara="1" rIns="91425" wrap="square" tIns="91425">
            <a:noAutofit/>
          </a:bodyPr>
          <a:lstStyle/>
          <a:p>
            <a:pPr indent="0" lvl="0" marL="114300" rtl="0" algn="l">
              <a:lnSpc>
                <a:spcPct val="200000"/>
              </a:lnSpc>
              <a:spcBef>
                <a:spcPts val="0"/>
              </a:spcBef>
              <a:spcAft>
                <a:spcPts val="0"/>
              </a:spcAft>
              <a:buSzPts val="1800"/>
              <a:buNone/>
            </a:pPr>
            <a:r>
              <a:rPr lang="en-US" sz="1400">
                <a:solidFill>
                  <a:schemeClr val="dk1"/>
                </a:solidFill>
              </a:rPr>
              <a:t>3. What initial values are set in Booth's Algorithm before starting the multiplication process?</a:t>
            </a:r>
            <a:endParaRPr sz="1400"/>
          </a:p>
          <a:p>
            <a:pPr indent="0" lvl="0" marL="114300" rtl="0" algn="l">
              <a:lnSpc>
                <a:spcPct val="200000"/>
              </a:lnSpc>
              <a:spcBef>
                <a:spcPts val="0"/>
              </a:spcBef>
              <a:spcAft>
                <a:spcPts val="0"/>
              </a:spcAft>
              <a:buSzPts val="1800"/>
              <a:buNone/>
            </a:pPr>
            <a:r>
              <a:rPr lang="en-US" sz="1400">
                <a:solidFill>
                  <a:schemeClr val="dk1"/>
                </a:solidFill>
              </a:rPr>
              <a:t>Answer:</a:t>
            </a:r>
            <a:endParaRPr sz="1400"/>
          </a:p>
          <a:p>
            <a:pPr indent="0" lvl="0" marL="114300" rtl="0" algn="l">
              <a:lnSpc>
                <a:spcPct val="200000"/>
              </a:lnSpc>
              <a:spcBef>
                <a:spcPts val="0"/>
              </a:spcBef>
              <a:spcAft>
                <a:spcPts val="0"/>
              </a:spcAft>
              <a:buSzPts val="1800"/>
              <a:buNone/>
            </a:pPr>
            <a:r>
              <a:rPr lang="en-US" sz="1400">
                <a:solidFill>
                  <a:schemeClr val="dk1"/>
                </a:solidFill>
              </a:rPr>
              <a:t>Before starting the multiplication process, the following initial values are set:</a:t>
            </a:r>
            <a:endParaRPr sz="1400"/>
          </a:p>
          <a:p>
            <a:pPr indent="0" lvl="0" marL="114300" rtl="0" algn="l">
              <a:lnSpc>
                <a:spcPct val="200000"/>
              </a:lnSpc>
              <a:spcBef>
                <a:spcPts val="0"/>
              </a:spcBef>
              <a:spcAft>
                <a:spcPts val="0"/>
              </a:spcAft>
              <a:buSzPts val="1800"/>
              <a:buNone/>
            </a:pPr>
            <a:r>
              <a:rPr lang="en-US" sz="1400">
                <a:solidFill>
                  <a:schemeClr val="dk1"/>
                </a:solidFill>
              </a:rPr>
              <a:t>"Acc" (Accumulator) is set to 0.</a:t>
            </a:r>
            <a:endParaRPr sz="1400"/>
          </a:p>
          <a:p>
            <a:pPr indent="0" lvl="0" marL="114300" rtl="0" algn="l">
              <a:lnSpc>
                <a:spcPct val="200000"/>
              </a:lnSpc>
              <a:spcBef>
                <a:spcPts val="0"/>
              </a:spcBef>
              <a:spcAft>
                <a:spcPts val="0"/>
              </a:spcAft>
              <a:buSzPts val="1800"/>
              <a:buNone/>
            </a:pPr>
            <a:r>
              <a:rPr lang="en-US" sz="1400">
                <a:solidFill>
                  <a:schemeClr val="dk1"/>
                </a:solidFill>
              </a:rPr>
              <a:t>"Q-1" (an extra bit appended to the multiplier for double inspection) is set to 0.</a:t>
            </a:r>
            <a:endParaRPr sz="1400"/>
          </a:p>
          <a:p>
            <a:pPr indent="0" lvl="0" marL="114300" rtl="0" algn="l">
              <a:lnSpc>
                <a:spcPct val="200000"/>
              </a:lnSpc>
              <a:spcBef>
                <a:spcPts val="0"/>
              </a:spcBef>
              <a:spcAft>
                <a:spcPts val="0"/>
              </a:spcAft>
              <a:buSzPts val="1800"/>
              <a:buNone/>
            </a:pPr>
            <a:r>
              <a:rPr lang="en-US" sz="1400">
                <a:solidFill>
                  <a:schemeClr val="dk1"/>
                </a:solidFill>
              </a:rPr>
              <a:t>"M" (Multiplicand) is assigned the value of the multiplicand.</a:t>
            </a:r>
            <a:endParaRPr sz="1400"/>
          </a:p>
          <a:p>
            <a:pPr indent="0" lvl="0" marL="114300" rtl="0" algn="l">
              <a:lnSpc>
                <a:spcPct val="200000"/>
              </a:lnSpc>
              <a:spcBef>
                <a:spcPts val="0"/>
              </a:spcBef>
              <a:spcAft>
                <a:spcPts val="0"/>
              </a:spcAft>
              <a:buSzPts val="1800"/>
              <a:buNone/>
            </a:pPr>
            <a:r>
              <a:rPr lang="en-US" sz="1400">
                <a:solidFill>
                  <a:schemeClr val="dk1"/>
                </a:solidFill>
              </a:rPr>
              <a:t>"Q" (Multiplier) is assigned the value of the multiplier.</a:t>
            </a:r>
            <a:endParaRPr sz="1400"/>
          </a:p>
          <a:p>
            <a:pPr indent="0" lvl="0" marL="114300" rtl="0" algn="l">
              <a:lnSpc>
                <a:spcPct val="200000"/>
              </a:lnSpc>
              <a:spcBef>
                <a:spcPts val="0"/>
              </a:spcBef>
              <a:spcAft>
                <a:spcPts val="0"/>
              </a:spcAft>
              <a:buSzPts val="1800"/>
              <a:buNone/>
            </a:pPr>
            <a:r>
              <a:rPr lang="en-US" sz="1400">
                <a:solidFill>
                  <a:schemeClr val="dk1"/>
                </a:solidFill>
              </a:rPr>
              <a:t>"Count" is set to the number of bits in the multiplier.</a:t>
            </a:r>
            <a:endParaRPr sz="1400">
              <a:solidFill>
                <a:schemeClr val="dk1"/>
              </a:solidFill>
            </a:endParaRPr>
          </a:p>
        </p:txBody>
      </p:sp>
      <p:sp>
        <p:nvSpPr>
          <p:cNvPr id="486" name="Google Shape;486;p38"/>
          <p:cNvSpPr txBox="1"/>
          <p:nvPr/>
        </p:nvSpPr>
        <p:spPr>
          <a:xfrm>
            <a:off x="122130" y="445025"/>
            <a:ext cx="634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38"/>
          <p:cNvSpPr txBox="1"/>
          <p:nvPr/>
        </p:nvSpPr>
        <p:spPr>
          <a:xfrm>
            <a:off x="122130"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Interview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9"/>
          <p:cNvSpPr txBox="1"/>
          <p:nvPr>
            <p:ph idx="1" type="body"/>
          </p:nvPr>
        </p:nvSpPr>
        <p:spPr>
          <a:xfrm>
            <a:off x="311700" y="1278854"/>
            <a:ext cx="8520600" cy="2906569"/>
          </a:xfrm>
          <a:prstGeom prst="rect">
            <a:avLst/>
          </a:prstGeom>
          <a:noFill/>
          <a:ln>
            <a:noFill/>
          </a:ln>
        </p:spPr>
        <p:txBody>
          <a:bodyPr anchorCtr="0" anchor="t" bIns="91425" lIns="91425" spcFirstLastPara="1" rIns="91425" wrap="square" tIns="91425">
            <a:noAutofit/>
          </a:bodyPr>
          <a:lstStyle/>
          <a:p>
            <a:pPr indent="0" lvl="0" marL="114300" rtl="0" algn="l">
              <a:lnSpc>
                <a:spcPct val="200000"/>
              </a:lnSpc>
              <a:spcBef>
                <a:spcPts val="0"/>
              </a:spcBef>
              <a:spcAft>
                <a:spcPts val="0"/>
              </a:spcAft>
              <a:buSzPts val="1800"/>
              <a:buNone/>
            </a:pPr>
            <a:r>
              <a:rPr lang="en-US" sz="1400">
                <a:solidFill>
                  <a:schemeClr val="dk1"/>
                </a:solidFill>
              </a:rPr>
              <a:t> 4. Explain the role of the "Q-1" bit in Booth’s Algorithm.</a:t>
            </a:r>
            <a:endParaRPr sz="1400"/>
          </a:p>
          <a:p>
            <a:pPr indent="0" lvl="0" marL="114300" rtl="0" algn="l">
              <a:lnSpc>
                <a:spcPct val="200000"/>
              </a:lnSpc>
              <a:spcBef>
                <a:spcPts val="0"/>
              </a:spcBef>
              <a:spcAft>
                <a:spcPts val="0"/>
              </a:spcAft>
              <a:buSzPts val="1800"/>
              <a:buNone/>
            </a:pPr>
            <a:r>
              <a:rPr lang="en-US" sz="1400">
                <a:solidFill>
                  <a:schemeClr val="dk1"/>
                </a:solidFill>
              </a:rPr>
              <a:t>Answer:</a:t>
            </a:r>
            <a:endParaRPr sz="1400"/>
          </a:p>
          <a:p>
            <a:pPr indent="0" lvl="0" marL="114300" rtl="0" algn="l">
              <a:lnSpc>
                <a:spcPct val="200000"/>
              </a:lnSpc>
              <a:spcBef>
                <a:spcPts val="0"/>
              </a:spcBef>
              <a:spcAft>
                <a:spcPts val="0"/>
              </a:spcAft>
              <a:buSzPts val="1800"/>
              <a:buNone/>
            </a:pPr>
            <a:r>
              <a:rPr lang="en-US" sz="1400">
                <a:solidFill>
                  <a:schemeClr val="dk1"/>
                </a:solidFill>
              </a:rPr>
              <a:t>The "Q-1" bit is an extra bit appended to the right of the multiplier. It facilitates the examination of pairs of bits ("Q[n]" and "Q[n-1]") to decide the arithmetic operation (addition, subtraction, or shift) to be performed during each cycle of the algorithm.</a:t>
            </a:r>
            <a:endParaRPr sz="1400"/>
          </a:p>
          <a:p>
            <a:pPr indent="0" lvl="0" marL="114300" rtl="0" algn="l">
              <a:lnSpc>
                <a:spcPct val="200000"/>
              </a:lnSpc>
              <a:spcBef>
                <a:spcPts val="0"/>
              </a:spcBef>
              <a:spcAft>
                <a:spcPts val="0"/>
              </a:spcAft>
              <a:buSzPts val="1800"/>
              <a:buNone/>
            </a:pPr>
            <a:r>
              <a:t/>
            </a:r>
            <a:endParaRPr sz="1400">
              <a:solidFill>
                <a:schemeClr val="dk1"/>
              </a:solidFill>
            </a:endParaRPr>
          </a:p>
          <a:p>
            <a:pPr indent="0" lvl="0" marL="114300" rtl="0" algn="l">
              <a:lnSpc>
                <a:spcPct val="200000"/>
              </a:lnSpc>
              <a:spcBef>
                <a:spcPts val="0"/>
              </a:spcBef>
              <a:spcAft>
                <a:spcPts val="0"/>
              </a:spcAft>
              <a:buSzPts val="1800"/>
              <a:buNone/>
            </a:pPr>
            <a:r>
              <a:rPr lang="en-US" sz="1400">
                <a:solidFill>
                  <a:schemeClr val="dk1"/>
                </a:solidFill>
              </a:rPr>
              <a:t> </a:t>
            </a:r>
            <a:endParaRPr sz="1400">
              <a:solidFill>
                <a:schemeClr val="dk1"/>
              </a:solidFill>
            </a:endParaRPr>
          </a:p>
        </p:txBody>
      </p:sp>
      <p:sp>
        <p:nvSpPr>
          <p:cNvPr id="493" name="Google Shape;493;p39"/>
          <p:cNvSpPr txBox="1"/>
          <p:nvPr/>
        </p:nvSpPr>
        <p:spPr>
          <a:xfrm>
            <a:off x="122130"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07FEC"/>
                </a:solidFill>
                <a:latin typeface="Roboto Black"/>
                <a:ea typeface="Roboto Black"/>
                <a:cs typeface="Roboto Black"/>
                <a:sym typeface="Roboto Black"/>
              </a:rPr>
              <a:t>Interview questions</a:t>
            </a:r>
            <a:endParaRPr i="0" sz="2000" u="none" cap="none" strike="noStrike">
              <a:solidFill>
                <a:srgbClr val="807FEC"/>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0"/>
          <p:cNvSpPr txBox="1"/>
          <p:nvPr>
            <p:ph idx="1" type="body"/>
          </p:nvPr>
        </p:nvSpPr>
        <p:spPr>
          <a:xfrm>
            <a:off x="311700" y="928800"/>
            <a:ext cx="8520600" cy="2713800"/>
          </a:xfrm>
          <a:prstGeom prst="rect">
            <a:avLst/>
          </a:prstGeom>
          <a:noFill/>
          <a:ln>
            <a:noFill/>
          </a:ln>
        </p:spPr>
        <p:txBody>
          <a:bodyPr anchorCtr="0" anchor="t" bIns="91425" lIns="91425" spcFirstLastPara="1" rIns="91425" wrap="square" tIns="91425">
            <a:noAutofit/>
          </a:bodyPr>
          <a:lstStyle/>
          <a:p>
            <a:pPr indent="0" lvl="0" marL="114300" rtl="0" algn="l">
              <a:lnSpc>
                <a:spcPct val="200000"/>
              </a:lnSpc>
              <a:spcBef>
                <a:spcPts val="0"/>
              </a:spcBef>
              <a:spcAft>
                <a:spcPts val="0"/>
              </a:spcAft>
              <a:buSzPts val="1800"/>
              <a:buNone/>
            </a:pPr>
            <a:r>
              <a:rPr lang="en-US" sz="1400">
                <a:solidFill>
                  <a:schemeClr val="dk1"/>
                </a:solidFill>
              </a:rPr>
              <a:t>5. What happens during each cycle of Booth’s Algorithm?</a:t>
            </a:r>
            <a:endParaRPr sz="1400"/>
          </a:p>
          <a:p>
            <a:pPr indent="0" lvl="0" marL="114300" rtl="0" algn="l">
              <a:lnSpc>
                <a:spcPct val="200000"/>
              </a:lnSpc>
              <a:spcBef>
                <a:spcPts val="0"/>
              </a:spcBef>
              <a:spcAft>
                <a:spcPts val="0"/>
              </a:spcAft>
              <a:buSzPts val="1800"/>
              <a:buNone/>
            </a:pPr>
            <a:r>
              <a:rPr lang="en-US" sz="1400">
                <a:solidFill>
                  <a:schemeClr val="dk1"/>
                </a:solidFill>
              </a:rPr>
              <a:t>Answer:During each cycle of Booth’s Algorithm, the following steps occur:</a:t>
            </a:r>
            <a:endParaRPr sz="1400"/>
          </a:p>
          <a:p>
            <a:pPr indent="0" lvl="0" marL="114300" rtl="0" algn="l">
              <a:lnSpc>
                <a:spcPct val="200000"/>
              </a:lnSpc>
              <a:spcBef>
                <a:spcPts val="0"/>
              </a:spcBef>
              <a:spcAft>
                <a:spcPts val="0"/>
              </a:spcAft>
              <a:buSzPts val="1800"/>
              <a:buNone/>
            </a:pPr>
            <a:r>
              <a:rPr lang="en-US" sz="1400">
                <a:solidFill>
                  <a:schemeClr val="dk1"/>
                </a:solidFill>
              </a:rPr>
              <a:t>1. Check the bits "Q0" (the least significant bit of "Q") and "Q-1".</a:t>
            </a:r>
            <a:endParaRPr sz="1400"/>
          </a:p>
          <a:p>
            <a:pPr indent="0" lvl="0" marL="114300" rtl="0" algn="l">
              <a:lnSpc>
                <a:spcPct val="200000"/>
              </a:lnSpc>
              <a:spcBef>
                <a:spcPts val="0"/>
              </a:spcBef>
              <a:spcAft>
                <a:spcPts val="0"/>
              </a:spcAft>
              <a:buSzPts val="1800"/>
              <a:buNone/>
            </a:pPr>
            <a:r>
              <a:rPr lang="en-US" sz="1400">
                <a:solidFill>
                  <a:schemeClr val="dk1"/>
                </a:solidFill>
              </a:rPr>
              <a:t>2. Perform one of the following operations based on the values of "Q0" and "Q-1":</a:t>
            </a:r>
            <a:endParaRPr sz="1400"/>
          </a:p>
          <a:p>
            <a:pPr indent="0" lvl="0" marL="114300" rtl="0" algn="l">
              <a:lnSpc>
                <a:spcPct val="200000"/>
              </a:lnSpc>
              <a:spcBef>
                <a:spcPts val="0"/>
              </a:spcBef>
              <a:spcAft>
                <a:spcPts val="0"/>
              </a:spcAft>
              <a:buSzPts val="1800"/>
              <a:buNone/>
            </a:pPr>
            <a:r>
              <a:rPr lang="en-US" sz="1400">
                <a:solidFill>
                  <a:schemeClr val="dk1"/>
                </a:solidFill>
              </a:rPr>
              <a:t>   If "Q0 Q-1" is "10", subtract the multiplicand from the accumulator and perform an ARS.</a:t>
            </a:r>
            <a:endParaRPr sz="1400"/>
          </a:p>
          <a:p>
            <a:pPr indent="0" lvl="0" marL="114300" rtl="0" algn="l">
              <a:lnSpc>
                <a:spcPct val="200000"/>
              </a:lnSpc>
              <a:spcBef>
                <a:spcPts val="0"/>
              </a:spcBef>
              <a:spcAft>
                <a:spcPts val="0"/>
              </a:spcAft>
              <a:buSzPts val="1800"/>
              <a:buNone/>
            </a:pPr>
            <a:r>
              <a:rPr lang="en-US" sz="1400">
                <a:solidFill>
                  <a:schemeClr val="dk1"/>
                </a:solidFill>
              </a:rPr>
              <a:t>   If "Q0 Q-1" is "01", add the multiplicand to the accumulator and perform an ARS.</a:t>
            </a:r>
            <a:endParaRPr sz="1400"/>
          </a:p>
          <a:p>
            <a:pPr indent="0" lvl="0" marL="114300" rtl="0" algn="l">
              <a:lnSpc>
                <a:spcPct val="200000"/>
              </a:lnSpc>
              <a:spcBef>
                <a:spcPts val="0"/>
              </a:spcBef>
              <a:spcAft>
                <a:spcPts val="0"/>
              </a:spcAft>
              <a:buSzPts val="1800"/>
              <a:buNone/>
            </a:pPr>
            <a:r>
              <a:rPr lang="en-US" sz="1400">
                <a:solidFill>
                  <a:schemeClr val="dk1"/>
                </a:solidFill>
              </a:rPr>
              <a:t>   If "Q0 Q-1" is "00" or "11", perform an ARS.</a:t>
            </a:r>
            <a:endParaRPr sz="1400"/>
          </a:p>
          <a:p>
            <a:pPr indent="0" lvl="0" marL="114300" rtl="0" algn="l">
              <a:lnSpc>
                <a:spcPct val="200000"/>
              </a:lnSpc>
              <a:spcBef>
                <a:spcPts val="0"/>
              </a:spcBef>
              <a:spcAft>
                <a:spcPts val="0"/>
              </a:spcAft>
              <a:buSzPts val="1800"/>
              <a:buNone/>
            </a:pPr>
            <a:r>
              <a:rPr lang="en-US" sz="1400">
                <a:solidFill>
                  <a:schemeClr val="dk1"/>
                </a:solidFill>
              </a:rPr>
              <a:t>3. Decrement the count.</a:t>
            </a:r>
            <a:endParaRPr sz="1400"/>
          </a:p>
          <a:p>
            <a:pPr indent="0" lvl="0" marL="114300" rtl="0" algn="l">
              <a:lnSpc>
                <a:spcPct val="200000"/>
              </a:lnSpc>
              <a:spcBef>
                <a:spcPts val="0"/>
              </a:spcBef>
              <a:spcAft>
                <a:spcPts val="0"/>
              </a:spcAft>
              <a:buSzPts val="1800"/>
              <a:buNone/>
            </a:pPr>
            <a:r>
              <a:rPr lang="en-US" sz="1400">
                <a:solidFill>
                  <a:schemeClr val="dk1"/>
                </a:solidFill>
              </a:rPr>
              <a:t>4. Repeat the process until the count reaches zero.</a:t>
            </a:r>
            <a:endParaRPr sz="1400"/>
          </a:p>
          <a:p>
            <a:pPr indent="0" lvl="0" marL="114300" rtl="0" algn="l">
              <a:lnSpc>
                <a:spcPct val="200000"/>
              </a:lnSpc>
              <a:spcBef>
                <a:spcPts val="0"/>
              </a:spcBef>
              <a:spcAft>
                <a:spcPts val="0"/>
              </a:spcAft>
              <a:buSzPts val="1800"/>
              <a:buNone/>
            </a:pPr>
            <a:r>
              <a:t/>
            </a:r>
            <a:endParaRPr sz="1400">
              <a:solidFill>
                <a:schemeClr val="dk1"/>
              </a:solidFill>
            </a:endParaRPr>
          </a:p>
        </p:txBody>
      </p:sp>
      <p:sp>
        <p:nvSpPr>
          <p:cNvPr id="499" name="Google Shape;499;p40"/>
          <p:cNvSpPr txBox="1"/>
          <p:nvPr/>
        </p:nvSpPr>
        <p:spPr>
          <a:xfrm>
            <a:off x="122130" y="189894"/>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Interview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1"/>
          <p:cNvSpPr txBox="1"/>
          <p:nvPr>
            <p:ph idx="1" type="body"/>
          </p:nvPr>
        </p:nvSpPr>
        <p:spPr>
          <a:xfrm>
            <a:off x="386042" y="1188358"/>
            <a:ext cx="8520600" cy="2906700"/>
          </a:xfrm>
          <a:prstGeom prst="rect">
            <a:avLst/>
          </a:prstGeom>
          <a:noFill/>
          <a:ln>
            <a:noFill/>
          </a:ln>
        </p:spPr>
        <p:txBody>
          <a:bodyPr anchorCtr="0" anchor="t" bIns="91425" lIns="91425" spcFirstLastPara="1" rIns="91425" wrap="square" tIns="91425">
            <a:noAutofit/>
          </a:bodyPr>
          <a:lstStyle/>
          <a:p>
            <a:pPr indent="0" lvl="0" marL="114300" rtl="0" algn="l">
              <a:lnSpc>
                <a:spcPct val="200000"/>
              </a:lnSpc>
              <a:spcBef>
                <a:spcPts val="0"/>
              </a:spcBef>
              <a:spcAft>
                <a:spcPts val="0"/>
              </a:spcAft>
              <a:buSzPts val="1800"/>
              <a:buNone/>
            </a:pPr>
            <a:r>
              <a:rPr lang="en-US" sz="1400">
                <a:solidFill>
                  <a:schemeClr val="dk1"/>
                </a:solidFill>
              </a:rPr>
              <a:t>6.What are the advantages of using Booth’s Algorithm?</a:t>
            </a:r>
            <a:endParaRPr/>
          </a:p>
          <a:p>
            <a:pPr indent="0" lvl="0" marL="114300" rtl="0" algn="l">
              <a:lnSpc>
                <a:spcPct val="200000"/>
              </a:lnSpc>
              <a:spcBef>
                <a:spcPts val="0"/>
              </a:spcBef>
              <a:spcAft>
                <a:spcPts val="0"/>
              </a:spcAft>
              <a:buSzPts val="1800"/>
              <a:buNone/>
            </a:pPr>
            <a:r>
              <a:rPr lang="en-US" sz="1400">
                <a:solidFill>
                  <a:schemeClr val="dk1"/>
                </a:solidFill>
              </a:rPr>
              <a:t>Answer:</a:t>
            </a:r>
            <a:endParaRPr/>
          </a:p>
          <a:p>
            <a:pPr indent="0" lvl="0" marL="114300" rtl="0" algn="l">
              <a:lnSpc>
                <a:spcPct val="200000"/>
              </a:lnSpc>
              <a:spcBef>
                <a:spcPts val="0"/>
              </a:spcBef>
              <a:spcAft>
                <a:spcPts val="0"/>
              </a:spcAft>
              <a:buSzPts val="1800"/>
              <a:buNone/>
            </a:pPr>
            <a:r>
              <a:rPr lang="en-US" sz="1400">
                <a:solidFill>
                  <a:schemeClr val="dk1"/>
                </a:solidFill>
              </a:rPr>
              <a:t>The advantages of using Booth’s Algorithm include:</a:t>
            </a:r>
            <a:endParaRPr/>
          </a:p>
          <a:p>
            <a:pPr indent="0" lvl="0" marL="114300" rtl="0" algn="l">
              <a:lnSpc>
                <a:spcPct val="200000"/>
              </a:lnSpc>
              <a:spcBef>
                <a:spcPts val="0"/>
              </a:spcBef>
              <a:spcAft>
                <a:spcPts val="0"/>
              </a:spcAft>
              <a:buSzPts val="1800"/>
              <a:buNone/>
            </a:pPr>
            <a:r>
              <a:rPr lang="en-US" sz="1400">
                <a:solidFill>
                  <a:schemeClr val="dk1"/>
                </a:solidFill>
              </a:rPr>
              <a:t>Reduced number of additions and subtractions, leading to faster computation.</a:t>
            </a:r>
            <a:endParaRPr/>
          </a:p>
          <a:p>
            <a:pPr indent="0" lvl="0" marL="114300" rtl="0" algn="l">
              <a:lnSpc>
                <a:spcPct val="200000"/>
              </a:lnSpc>
              <a:spcBef>
                <a:spcPts val="0"/>
              </a:spcBef>
              <a:spcAft>
                <a:spcPts val="0"/>
              </a:spcAft>
              <a:buSzPts val="1800"/>
              <a:buNone/>
            </a:pPr>
            <a:r>
              <a:rPr lang="en-US" sz="1400">
                <a:solidFill>
                  <a:schemeClr val="dk1"/>
                </a:solidFill>
              </a:rPr>
              <a:t>Efficient handling of both positive and negative numbers.</a:t>
            </a:r>
            <a:endParaRPr/>
          </a:p>
          <a:p>
            <a:pPr indent="0" lvl="0" marL="114300" rtl="0" algn="l">
              <a:lnSpc>
                <a:spcPct val="200000"/>
              </a:lnSpc>
              <a:spcBef>
                <a:spcPts val="0"/>
              </a:spcBef>
              <a:spcAft>
                <a:spcPts val="0"/>
              </a:spcAft>
              <a:buSzPts val="1800"/>
              <a:buNone/>
            </a:pPr>
            <a:r>
              <a:rPr lang="en-US" sz="1400">
                <a:solidFill>
                  <a:schemeClr val="dk1"/>
                </a:solidFill>
              </a:rPr>
              <a:t>Optimization of the multiplication process for numbers with large sequences of 0s or 1s, resulting in fewer operations compared to straightforward multiplication.</a:t>
            </a:r>
            <a:endParaRPr sz="1400">
              <a:solidFill>
                <a:schemeClr val="dk1"/>
              </a:solidFill>
            </a:endParaRPr>
          </a:p>
        </p:txBody>
      </p:sp>
      <p:sp>
        <p:nvSpPr>
          <p:cNvPr id="505" name="Google Shape;505;p41"/>
          <p:cNvSpPr txBox="1"/>
          <p:nvPr/>
        </p:nvSpPr>
        <p:spPr>
          <a:xfrm>
            <a:off x="122130" y="445025"/>
            <a:ext cx="6341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t/>
            </a:r>
            <a:endParaRPr i="0" sz="1400" u="none" cap="none" strike="noStrike">
              <a:solidFill>
                <a:srgbClr val="000000"/>
              </a:solidFill>
              <a:latin typeface="Roboto"/>
              <a:ea typeface="Roboto"/>
              <a:cs typeface="Roboto"/>
              <a:sym typeface="Roboto"/>
            </a:endParaRPr>
          </a:p>
        </p:txBody>
      </p:sp>
      <p:sp>
        <p:nvSpPr>
          <p:cNvPr id="506" name="Google Shape;506;p41"/>
          <p:cNvSpPr txBox="1"/>
          <p:nvPr/>
        </p:nvSpPr>
        <p:spPr>
          <a:xfrm>
            <a:off x="386055"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Interview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2"/>
          <p:cNvSpPr txBox="1"/>
          <p:nvPr>
            <p:ph idx="1" type="body"/>
          </p:nvPr>
        </p:nvSpPr>
        <p:spPr>
          <a:xfrm>
            <a:off x="393477" y="1182211"/>
            <a:ext cx="8520600" cy="2906569"/>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SzPts val="1800"/>
              <a:buNone/>
            </a:pPr>
            <a:r>
              <a:rPr lang="en-US" sz="1400">
                <a:solidFill>
                  <a:schemeClr val="dk1"/>
                </a:solidFill>
              </a:rPr>
              <a:t>Question 1: Multiplication of Two Positive Integers Using Booth's Algorithm</a:t>
            </a:r>
            <a:endParaRPr sz="1400"/>
          </a:p>
          <a:p>
            <a:pPr indent="0" lvl="0" marL="114300" rtl="0" algn="l">
              <a:lnSpc>
                <a:spcPct val="150000"/>
              </a:lnSpc>
              <a:spcBef>
                <a:spcPts val="0"/>
              </a:spcBef>
              <a:spcAft>
                <a:spcPts val="0"/>
              </a:spcAft>
              <a:buSzPts val="1800"/>
              <a:buNone/>
            </a:pPr>
            <a:r>
              <a:rPr lang="en-US" sz="1400">
                <a:solidFill>
                  <a:schemeClr val="dk1"/>
                </a:solidFill>
              </a:rPr>
              <a:t>Implement a method to multiply two positive integers using Booth's Algorithm. Ensure your method correctly handles the binary multiplication process.</a:t>
            </a:r>
            <a:endParaRPr sz="1400"/>
          </a:p>
          <a:p>
            <a:pPr indent="0" lvl="0" marL="114300" rtl="0" algn="l">
              <a:lnSpc>
                <a:spcPct val="150000"/>
              </a:lnSpc>
              <a:spcBef>
                <a:spcPts val="0"/>
              </a:spcBef>
              <a:spcAft>
                <a:spcPts val="0"/>
              </a:spcAft>
              <a:buSzPts val="1800"/>
              <a:buNone/>
            </a:pPr>
            <a:r>
              <a:rPr lang="en-US" sz="1400">
                <a:solidFill>
                  <a:schemeClr val="dk1"/>
                </a:solidFill>
              </a:rPr>
              <a:t>Sample Test Cases:</a:t>
            </a:r>
            <a:endParaRPr sz="1400"/>
          </a:p>
          <a:p>
            <a:pPr indent="0" lvl="0" marL="114300" rtl="0" algn="l">
              <a:lnSpc>
                <a:spcPct val="150000"/>
              </a:lnSpc>
              <a:spcBef>
                <a:spcPts val="0"/>
              </a:spcBef>
              <a:spcAft>
                <a:spcPts val="0"/>
              </a:spcAft>
              <a:buSzPts val="1800"/>
              <a:buNone/>
            </a:pPr>
            <a:r>
              <a:rPr lang="en-US" sz="1400">
                <a:solidFill>
                  <a:schemeClr val="dk1"/>
                </a:solidFill>
              </a:rPr>
              <a:t>1. Input: multiplicand = 6, multiplier = 3</a:t>
            </a:r>
            <a:endParaRPr sz="1400"/>
          </a:p>
          <a:p>
            <a:pPr indent="0" lvl="0" marL="114300" rtl="0" algn="l">
              <a:lnSpc>
                <a:spcPct val="150000"/>
              </a:lnSpc>
              <a:spcBef>
                <a:spcPts val="0"/>
              </a:spcBef>
              <a:spcAft>
                <a:spcPts val="0"/>
              </a:spcAft>
              <a:buSzPts val="1800"/>
              <a:buNone/>
            </a:pPr>
            <a:r>
              <a:rPr lang="en-US" sz="1400">
                <a:solidFill>
                  <a:schemeClr val="dk1"/>
                </a:solidFill>
              </a:rPr>
              <a:t>   Output: 18</a:t>
            </a:r>
            <a:endParaRPr sz="1400"/>
          </a:p>
          <a:p>
            <a:pPr indent="0" lvl="0" marL="114300" rtl="0" algn="l">
              <a:lnSpc>
                <a:spcPct val="150000"/>
              </a:lnSpc>
              <a:spcBef>
                <a:spcPts val="0"/>
              </a:spcBef>
              <a:spcAft>
                <a:spcPts val="0"/>
              </a:spcAft>
              <a:buSzPts val="1800"/>
              <a:buNone/>
            </a:pPr>
            <a:r>
              <a:rPr lang="en-US" sz="1400">
                <a:solidFill>
                  <a:schemeClr val="dk1"/>
                </a:solidFill>
              </a:rPr>
              <a:t>   Explanation: The binary multiplication of 6 (110) and 3 (011) results in 18 (10010 in binary).</a:t>
            </a:r>
            <a:endParaRPr sz="1400"/>
          </a:p>
          <a:p>
            <a:pPr indent="0" lvl="0" marL="114300" rtl="0" algn="l">
              <a:lnSpc>
                <a:spcPct val="150000"/>
              </a:lnSpc>
              <a:spcBef>
                <a:spcPts val="0"/>
              </a:spcBef>
              <a:spcAft>
                <a:spcPts val="0"/>
              </a:spcAft>
              <a:buSzPts val="1800"/>
              <a:buNone/>
            </a:pPr>
            <a:r>
              <a:rPr lang="en-US" sz="1400">
                <a:solidFill>
                  <a:schemeClr val="dk1"/>
                </a:solidFill>
              </a:rPr>
              <a:t>2. Input: multiplicand = 9, multiplier = 5</a:t>
            </a:r>
            <a:endParaRPr sz="1400"/>
          </a:p>
          <a:p>
            <a:pPr indent="0" lvl="0" marL="114300" rtl="0" algn="l">
              <a:lnSpc>
                <a:spcPct val="150000"/>
              </a:lnSpc>
              <a:spcBef>
                <a:spcPts val="0"/>
              </a:spcBef>
              <a:spcAft>
                <a:spcPts val="0"/>
              </a:spcAft>
              <a:buSzPts val="1800"/>
              <a:buNone/>
            </a:pPr>
            <a:r>
              <a:rPr lang="en-US" sz="1400">
                <a:solidFill>
                  <a:schemeClr val="dk1"/>
                </a:solidFill>
              </a:rPr>
              <a:t>   Output: 45</a:t>
            </a:r>
            <a:endParaRPr sz="1400"/>
          </a:p>
          <a:p>
            <a:pPr indent="0" lvl="0" marL="114300" rtl="0" algn="l">
              <a:lnSpc>
                <a:spcPct val="150000"/>
              </a:lnSpc>
              <a:spcBef>
                <a:spcPts val="0"/>
              </a:spcBef>
              <a:spcAft>
                <a:spcPts val="0"/>
              </a:spcAft>
              <a:buSzPts val="1800"/>
              <a:buNone/>
            </a:pPr>
            <a:r>
              <a:rPr lang="en-US" sz="1400">
                <a:solidFill>
                  <a:schemeClr val="dk1"/>
                </a:solidFill>
              </a:rPr>
              <a:t>   Explanation: The binary multiplication of 9 (1001) and 5 (0101) results in 45 (101101 in binary).</a:t>
            </a:r>
            <a:endParaRPr sz="1400"/>
          </a:p>
          <a:p>
            <a:pPr indent="0" lvl="0" marL="114300" rtl="0" algn="l">
              <a:lnSpc>
                <a:spcPct val="150000"/>
              </a:lnSpc>
              <a:spcBef>
                <a:spcPts val="0"/>
              </a:spcBef>
              <a:spcAft>
                <a:spcPts val="0"/>
              </a:spcAft>
              <a:buSzPts val="1800"/>
              <a:buNone/>
            </a:pPr>
            <a:r>
              <a:t/>
            </a:r>
            <a:endParaRPr sz="1400">
              <a:solidFill>
                <a:schemeClr val="dk1"/>
              </a:solidFill>
            </a:endParaRPr>
          </a:p>
        </p:txBody>
      </p:sp>
      <p:sp>
        <p:nvSpPr>
          <p:cNvPr id="512" name="Google Shape;512;p42"/>
          <p:cNvSpPr txBox="1"/>
          <p:nvPr/>
        </p:nvSpPr>
        <p:spPr>
          <a:xfrm>
            <a:off x="122130" y="445025"/>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Practice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3"/>
          <p:cNvSpPr txBox="1"/>
          <p:nvPr>
            <p:ph idx="1" type="body"/>
          </p:nvPr>
        </p:nvSpPr>
        <p:spPr>
          <a:xfrm>
            <a:off x="386050" y="905475"/>
            <a:ext cx="7785600" cy="34251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SzPts val="1800"/>
              <a:buNone/>
            </a:pPr>
            <a:r>
              <a:rPr lang="en-US" sz="1400">
                <a:solidFill>
                  <a:schemeClr val="dk1"/>
                </a:solidFill>
              </a:rPr>
              <a:t>Question 2: Multiplication of a Positive and a Negative Integer Using Booth's Algorithm</a:t>
            </a:r>
            <a:endParaRPr sz="1400"/>
          </a:p>
          <a:p>
            <a:pPr indent="0" lvl="0" marL="114300" rtl="0" algn="l">
              <a:lnSpc>
                <a:spcPct val="150000"/>
              </a:lnSpc>
              <a:spcBef>
                <a:spcPts val="0"/>
              </a:spcBef>
              <a:spcAft>
                <a:spcPts val="0"/>
              </a:spcAft>
              <a:buSzPts val="1800"/>
              <a:buNone/>
            </a:pPr>
            <a:r>
              <a:rPr lang="en-US" sz="1400">
                <a:solidFill>
                  <a:schemeClr val="dk1"/>
                </a:solidFill>
              </a:rPr>
              <a:t>Implement a method to multiply a positive integer and a negative integer using Booth's Algorithm. Ensure your method correctly handles the binary multiplication of signed integers.</a:t>
            </a:r>
            <a:endParaRPr sz="1400"/>
          </a:p>
          <a:p>
            <a:pPr indent="0" lvl="0" marL="114300" rtl="0" algn="l">
              <a:lnSpc>
                <a:spcPct val="150000"/>
              </a:lnSpc>
              <a:spcBef>
                <a:spcPts val="0"/>
              </a:spcBef>
              <a:spcAft>
                <a:spcPts val="0"/>
              </a:spcAft>
              <a:buSzPts val="1800"/>
              <a:buNone/>
            </a:pPr>
            <a:r>
              <a:rPr lang="en-US" sz="1400">
                <a:solidFill>
                  <a:schemeClr val="dk1"/>
                </a:solidFill>
              </a:rPr>
              <a:t>Sample Test Cases:</a:t>
            </a:r>
            <a:endParaRPr sz="1400"/>
          </a:p>
          <a:p>
            <a:pPr indent="0" lvl="0" marL="114300" rtl="0" algn="l">
              <a:lnSpc>
                <a:spcPct val="150000"/>
              </a:lnSpc>
              <a:spcBef>
                <a:spcPts val="0"/>
              </a:spcBef>
              <a:spcAft>
                <a:spcPts val="0"/>
              </a:spcAft>
              <a:buSzPts val="1800"/>
              <a:buNone/>
            </a:pPr>
            <a:r>
              <a:rPr lang="en-US" sz="1400">
                <a:solidFill>
                  <a:schemeClr val="dk1"/>
                </a:solidFill>
              </a:rPr>
              <a:t>1. Input: multiplicand = 7, multiplier = -3</a:t>
            </a:r>
            <a:endParaRPr sz="1400"/>
          </a:p>
          <a:p>
            <a:pPr indent="0" lvl="0" marL="114300" rtl="0" algn="l">
              <a:lnSpc>
                <a:spcPct val="150000"/>
              </a:lnSpc>
              <a:spcBef>
                <a:spcPts val="0"/>
              </a:spcBef>
              <a:spcAft>
                <a:spcPts val="0"/>
              </a:spcAft>
              <a:buSzPts val="1800"/>
              <a:buNone/>
            </a:pPr>
            <a:r>
              <a:rPr lang="en-US" sz="1400">
                <a:solidFill>
                  <a:schemeClr val="dk1"/>
                </a:solidFill>
              </a:rPr>
              <a:t>   Output: -21</a:t>
            </a:r>
            <a:endParaRPr sz="1400"/>
          </a:p>
          <a:p>
            <a:pPr indent="0" lvl="0" marL="114300" rtl="0" algn="l">
              <a:lnSpc>
                <a:spcPct val="150000"/>
              </a:lnSpc>
              <a:spcBef>
                <a:spcPts val="0"/>
              </a:spcBef>
              <a:spcAft>
                <a:spcPts val="0"/>
              </a:spcAft>
              <a:buSzPts val="1800"/>
              <a:buNone/>
            </a:pPr>
            <a:r>
              <a:rPr lang="en-US" sz="1400">
                <a:solidFill>
                  <a:schemeClr val="dk1"/>
                </a:solidFill>
              </a:rPr>
              <a:t>   Explanation: The binary multiplication of 7 (0111) and -3 (1101 in 2's complement) results in -21 (101011 in 2's complement).</a:t>
            </a:r>
            <a:endParaRPr sz="1400"/>
          </a:p>
          <a:p>
            <a:pPr indent="0" lvl="0" marL="114300" rtl="0" algn="l">
              <a:lnSpc>
                <a:spcPct val="150000"/>
              </a:lnSpc>
              <a:spcBef>
                <a:spcPts val="0"/>
              </a:spcBef>
              <a:spcAft>
                <a:spcPts val="0"/>
              </a:spcAft>
              <a:buSzPts val="1800"/>
              <a:buNone/>
            </a:pPr>
            <a:r>
              <a:rPr lang="en-US" sz="1400">
                <a:solidFill>
                  <a:schemeClr val="dk1"/>
                </a:solidFill>
              </a:rPr>
              <a:t>2. Input: multiplicand = -8, multiplier = 4</a:t>
            </a:r>
            <a:endParaRPr sz="1400"/>
          </a:p>
          <a:p>
            <a:pPr indent="0" lvl="0" marL="114300" rtl="0" algn="l">
              <a:lnSpc>
                <a:spcPct val="150000"/>
              </a:lnSpc>
              <a:spcBef>
                <a:spcPts val="0"/>
              </a:spcBef>
              <a:spcAft>
                <a:spcPts val="0"/>
              </a:spcAft>
              <a:buSzPts val="1800"/>
              <a:buNone/>
            </a:pPr>
            <a:r>
              <a:rPr lang="en-US" sz="1400">
                <a:solidFill>
                  <a:schemeClr val="dk1"/>
                </a:solidFill>
              </a:rPr>
              <a:t>   Output: -32</a:t>
            </a:r>
            <a:endParaRPr sz="1400"/>
          </a:p>
          <a:p>
            <a:pPr indent="0" lvl="0" marL="114300" rtl="0" algn="l">
              <a:lnSpc>
                <a:spcPct val="150000"/>
              </a:lnSpc>
              <a:spcBef>
                <a:spcPts val="0"/>
              </a:spcBef>
              <a:spcAft>
                <a:spcPts val="0"/>
              </a:spcAft>
              <a:buSzPts val="1800"/>
              <a:buNone/>
            </a:pPr>
            <a:r>
              <a:rPr lang="en-US" sz="1400">
                <a:solidFill>
                  <a:schemeClr val="dk1"/>
                </a:solidFill>
              </a:rPr>
              <a:t>   Explanation: The binary multiplication of -8 (1000 in 2's complement) and 4 (0100) results </a:t>
            </a:r>
            <a:r>
              <a:rPr lang="en-US" sz="1400">
                <a:solidFill>
                  <a:schemeClr val="dk1"/>
                </a:solidFill>
              </a:rPr>
              <a:t>in -</a:t>
            </a:r>
            <a:r>
              <a:rPr lang="en-US" sz="1400">
                <a:solidFill>
                  <a:schemeClr val="dk1"/>
                </a:solidFill>
              </a:rPr>
              <a:t>32 (11100000 in 2's complement).</a:t>
            </a:r>
            <a:endParaRPr sz="1400">
              <a:solidFill>
                <a:schemeClr val="dk1"/>
              </a:solidFill>
            </a:endParaRPr>
          </a:p>
          <a:p>
            <a:pPr indent="0" lvl="0" marL="114300" rtl="0" algn="l">
              <a:lnSpc>
                <a:spcPct val="150000"/>
              </a:lnSpc>
              <a:spcBef>
                <a:spcPts val="0"/>
              </a:spcBef>
              <a:spcAft>
                <a:spcPts val="0"/>
              </a:spcAft>
              <a:buSzPts val="1800"/>
              <a:buNone/>
            </a:pPr>
            <a:r>
              <a:t/>
            </a:r>
            <a:endParaRPr sz="1400">
              <a:solidFill>
                <a:schemeClr val="dk1"/>
              </a:solidFill>
            </a:endParaRPr>
          </a:p>
        </p:txBody>
      </p:sp>
      <p:sp>
        <p:nvSpPr>
          <p:cNvPr id="518" name="Google Shape;518;p43"/>
          <p:cNvSpPr txBox="1"/>
          <p:nvPr/>
        </p:nvSpPr>
        <p:spPr>
          <a:xfrm>
            <a:off x="342080" y="461950"/>
            <a:ext cx="6341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i="0" lang="en-US" sz="2000" u="none" cap="none" strike="noStrike">
                <a:solidFill>
                  <a:srgbClr val="8181EF"/>
                </a:solidFill>
                <a:latin typeface="Roboto Black"/>
                <a:ea typeface="Roboto Black"/>
                <a:cs typeface="Roboto Black"/>
                <a:sym typeface="Roboto Black"/>
              </a:rPr>
              <a:t>Practice questions</a:t>
            </a:r>
            <a:endParaRPr i="0" sz="2000" u="none" cap="none" strike="noStrike">
              <a:solidFill>
                <a:srgbClr val="8181EF"/>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2cb3dbaf7_0_0"/>
          <p:cNvSpPr txBox="1"/>
          <p:nvPr>
            <p:ph type="title"/>
          </p:nvPr>
        </p:nvSpPr>
        <p:spPr>
          <a:xfrm>
            <a:off x="1757250" y="725150"/>
            <a:ext cx="4128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2000"/>
              <a:buFont typeface="Arial"/>
              <a:buNone/>
            </a:pPr>
            <a:r>
              <a:rPr b="1" lang="en-US" sz="2000">
                <a:solidFill>
                  <a:srgbClr val="807FEC"/>
                </a:solidFill>
              </a:rPr>
              <a:t>Help Desk </a:t>
            </a:r>
            <a:endParaRPr b="1" sz="2000">
              <a:solidFill>
                <a:srgbClr val="807FEC"/>
              </a:solidFill>
            </a:endParaRPr>
          </a:p>
          <a:p>
            <a:pPr indent="0" lvl="0" marL="0" rtl="0" algn="l">
              <a:lnSpc>
                <a:spcPct val="100000"/>
              </a:lnSpc>
              <a:spcBef>
                <a:spcPts val="0"/>
              </a:spcBef>
              <a:spcAft>
                <a:spcPts val="0"/>
              </a:spcAft>
              <a:buSzPts val="2800"/>
              <a:buNone/>
            </a:pPr>
            <a:r>
              <a:t/>
            </a:r>
            <a:endParaRPr/>
          </a:p>
        </p:txBody>
      </p:sp>
      <p:pic>
        <p:nvPicPr>
          <p:cNvPr id="524" name="Google Shape;524;g3f2cb3dbaf7_0_0"/>
          <p:cNvPicPr preferRelativeResize="0"/>
          <p:nvPr/>
        </p:nvPicPr>
        <p:blipFill rotWithShape="1">
          <a:blip r:embed="rId3">
            <a:alphaModFix/>
          </a:blip>
          <a:srcRect b="0" l="0" r="0" t="0"/>
          <a:stretch/>
        </p:blipFill>
        <p:spPr>
          <a:xfrm>
            <a:off x="152400" y="430525"/>
            <a:ext cx="1295400" cy="1167825"/>
          </a:xfrm>
          <a:prstGeom prst="rect">
            <a:avLst/>
          </a:prstGeom>
          <a:noFill/>
          <a:ln>
            <a:noFill/>
          </a:ln>
        </p:spPr>
      </p:pic>
      <p:sp>
        <p:nvSpPr>
          <p:cNvPr id="525" name="Google Shape;525;g3f2cb3dbaf7_0_0"/>
          <p:cNvSpPr txBox="1"/>
          <p:nvPr/>
        </p:nvSpPr>
        <p:spPr>
          <a:xfrm>
            <a:off x="659100" y="1842250"/>
            <a:ext cx="5316000" cy="2274900"/>
          </a:xfrm>
          <a:prstGeom prst="rect">
            <a:avLst/>
          </a:prstGeom>
          <a:noFill/>
          <a:ln>
            <a:noFill/>
          </a:ln>
        </p:spPr>
        <p:txBody>
          <a:bodyPr anchorCtr="0" anchor="t" bIns="91425" lIns="91425" spcFirstLastPara="1" rIns="91425" wrap="square" tIns="91425">
            <a:noAutofit/>
          </a:bodyPr>
          <a:lstStyle/>
          <a:p>
            <a:pPr indent="0" lvl="0" marL="457200" marR="0" rtl="0" algn="l">
              <a:lnSpc>
                <a:spcPct val="2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Any concerns related to attendance/marks/ faculty ; you can reach out to ETHNUS helpdesk through the displayed QR code</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Arial"/>
              <a:buNone/>
            </a:pPr>
            <a:r>
              <a:rPr b="0" i="0" lang="en-US" sz="1400" u="none" cap="none" strike="noStrike">
                <a:solidFill>
                  <a:schemeClr val="dk1"/>
                </a:solidFill>
                <a:latin typeface="Roboto"/>
                <a:ea typeface="Roboto"/>
                <a:cs typeface="Roboto"/>
                <a:sym typeface="Roboto"/>
              </a:rPr>
              <a:t>      </a:t>
            </a:r>
            <a:r>
              <a:rPr b="0" i="0" lang="en-US" sz="2200" u="sng" cap="none" strike="noStrike">
                <a:solidFill>
                  <a:schemeClr val="accent5"/>
                </a:solidFill>
                <a:latin typeface="Roboto"/>
                <a:ea typeface="Roboto"/>
                <a:cs typeface="Roboto"/>
                <a:sym typeface="Roboto"/>
                <a:hlinkClick r:id="rId4">
                  <a:extLst>
                    <a:ext uri="{A12FA001-AC4F-418D-AE19-62706E023703}">
                      <ahyp:hlinkClr val="tx"/>
                    </a:ext>
                  </a:extLst>
                </a:hlinkClick>
              </a:rPr>
              <a:t>https://codemithra.com/vit-helpdesk/</a:t>
            </a:r>
            <a:endParaRPr b="0" i="0" sz="2200" u="none" cap="none" strike="noStrike">
              <a:solidFill>
                <a:schemeClr val="dk1"/>
              </a:solidFill>
              <a:latin typeface="Roboto"/>
              <a:ea typeface="Roboto"/>
              <a:cs typeface="Roboto"/>
              <a:sym typeface="Roboto"/>
            </a:endParaRPr>
          </a:p>
        </p:txBody>
      </p:sp>
      <p:pic>
        <p:nvPicPr>
          <p:cNvPr id="526" name="Google Shape;526;g3f2cb3dbaf7_0_0"/>
          <p:cNvPicPr preferRelativeResize="0"/>
          <p:nvPr/>
        </p:nvPicPr>
        <p:blipFill rotWithShape="1">
          <a:blip r:embed="rId5">
            <a:alphaModFix/>
          </a:blip>
          <a:srcRect b="0" l="0" r="0" t="0"/>
          <a:stretch/>
        </p:blipFill>
        <p:spPr>
          <a:xfrm>
            <a:off x="6026625" y="1842250"/>
            <a:ext cx="2165724" cy="1962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f2cb3dbaf7_0_7"/>
          <p:cNvSpPr/>
          <p:nvPr/>
        </p:nvSpPr>
        <p:spPr>
          <a:xfrm>
            <a:off x="555120" y="915840"/>
            <a:ext cx="7545000" cy="83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532" name="Google Shape;532;g3f2cb3dbaf7_0_7"/>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533" name="Google Shape;533;g3f2cb3dbaf7_0_7"/>
          <p:cNvSpPr/>
          <p:nvPr/>
        </p:nvSpPr>
        <p:spPr>
          <a:xfrm>
            <a:off x="1634725" y="3801680"/>
            <a:ext cx="5184000" cy="5382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272ced43323_0_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39" name="Google Shape;539;g272ced43323_0_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540" name="Google Shape;540;g272ced43323_0_12"/>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541" name="Google Shape;541;g272ced43323_0_12"/>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542" name="Google Shape;542;g272ced43323_0_12"/>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543" name="Google Shape;543;g272ced43323_0_12"/>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544" name="Google Shape;544;g272ced43323_0_12"/>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545" name="Google Shape;545;g272ced43323_0_12"/>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546" name="Google Shape;546;g272ced43323_0_12"/>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547" name="Google Shape;547;g272ced43323_0_12"/>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548" name="Google Shape;548;g272ced43323_0_12"/>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549" name="Google Shape;549;g272ced43323_0_12"/>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